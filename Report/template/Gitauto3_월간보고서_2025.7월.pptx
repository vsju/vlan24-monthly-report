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4" r:id="rId38"/>
  </p:sldIdLst>
  <p:sldSz cx="7556500" cy="10693400"/>
  <p:notesSz cx="7556500" cy="106934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23" autoAdjust="0"/>
    <p:restoredTop sz="94660"/>
  </p:normalViewPr>
  <p:slideViewPr>
    <p:cSldViewPr>
      <p:cViewPr varScale="1">
        <p:scale>
          <a:sx n="59" d="100"/>
          <a:sy n="59" d="100"/>
        </p:scale>
        <p:origin x="2472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79365" y="9810445"/>
            <a:ext cx="1792668" cy="5758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80968"/>
                </a:moveTo>
                <a:lnTo>
                  <a:pt x="6949440" y="10080968"/>
                </a:lnTo>
                <a:lnTo>
                  <a:pt x="3048" y="10080968"/>
                </a:lnTo>
                <a:lnTo>
                  <a:pt x="0" y="10080968"/>
                </a:lnTo>
                <a:lnTo>
                  <a:pt x="0" y="10084003"/>
                </a:lnTo>
                <a:lnTo>
                  <a:pt x="3048" y="10084003"/>
                </a:lnTo>
                <a:lnTo>
                  <a:pt x="6949440" y="10084003"/>
                </a:lnTo>
                <a:lnTo>
                  <a:pt x="6952475" y="10084003"/>
                </a:lnTo>
                <a:lnTo>
                  <a:pt x="6952475" y="10080968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9440" y="0"/>
                </a:lnTo>
                <a:lnTo>
                  <a:pt x="3048" y="0"/>
                </a:lnTo>
                <a:lnTo>
                  <a:pt x="0" y="0"/>
                </a:lnTo>
                <a:lnTo>
                  <a:pt x="0" y="2997"/>
                </a:lnTo>
                <a:lnTo>
                  <a:pt x="0" y="10080955"/>
                </a:lnTo>
                <a:lnTo>
                  <a:pt x="3048" y="10080955"/>
                </a:lnTo>
                <a:lnTo>
                  <a:pt x="3048" y="3048"/>
                </a:lnTo>
                <a:lnTo>
                  <a:pt x="6949440" y="3048"/>
                </a:lnTo>
                <a:lnTo>
                  <a:pt x="6949440" y="10080955"/>
                </a:lnTo>
                <a:lnTo>
                  <a:pt x="6952475" y="10080955"/>
                </a:lnTo>
                <a:lnTo>
                  <a:pt x="6952475" y="3048"/>
                </a:lnTo>
                <a:lnTo>
                  <a:pt x="6952475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20263" y="1097025"/>
            <a:ext cx="1322323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67180" y="1874265"/>
            <a:ext cx="5228488" cy="6116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gitserver3@gitauto.com" TargetMode="External"/><Relationship Id="rId2" Type="http://schemas.openxmlformats.org/officeDocument/2006/relationships/hyperlink" Target="mailto:lee21115@gitauto.com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mailto:tech@vlan24.com" TargetMode="External"/><Relationship Id="rId4" Type="http://schemas.openxmlformats.org/officeDocument/2006/relationships/hyperlink" Target="mailto:minkyu.kim@vlan24.com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88288" y="4184421"/>
            <a:ext cx="4242435" cy="634148"/>
          </a:xfrm>
          <a:prstGeom prst="rect">
            <a:avLst/>
          </a:prstGeom>
        </p:spPr>
        <p:txBody>
          <a:bodyPr vert="horz" wrap="square" lIns="0" tIns="201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sz="2800" spc="-5" dirty="0" err="1">
                <a:solidFill>
                  <a:srgbClr val="494949"/>
                </a:solidFill>
                <a:latin typeface="맑은 고딕"/>
                <a:cs typeface="맑은 고딕"/>
              </a:rPr>
              <a:t>KT</a:t>
            </a:r>
            <a:r>
              <a:rPr lang="en-US" sz="2800" spc="-5" err="1">
                <a:solidFill>
                  <a:srgbClr val="494949"/>
                </a:solidFill>
                <a:latin typeface="맑은 고딕"/>
                <a:cs typeface="맑은 고딕"/>
              </a:rPr>
              <a:t>_</a:t>
            </a:r>
            <a:r>
              <a:rPr sz="2800" spc="-5">
                <a:solidFill>
                  <a:srgbClr val="494949"/>
                </a:solidFill>
                <a:latin typeface="맑은 고딕"/>
                <a:cs typeface="맑은 고딕"/>
              </a:rPr>
              <a:t>Cloud</a:t>
            </a:r>
            <a:r>
              <a:rPr lang="en-US" sz="2800" spc="-5" dirty="0">
                <a:solidFill>
                  <a:srgbClr val="494949"/>
                </a:solidFill>
                <a:latin typeface="맑은 고딕"/>
                <a:cs typeface="맑은 고딕"/>
              </a:rPr>
              <a:t>_</a:t>
            </a:r>
            <a:r>
              <a:rPr sz="2800" spc="-5">
                <a:solidFill>
                  <a:srgbClr val="494949"/>
                </a:solidFill>
                <a:latin typeface="맑은 고딕"/>
                <a:cs typeface="맑은 고딕"/>
              </a:rPr>
              <a:t>Gitauto</a:t>
            </a:r>
            <a:r>
              <a:rPr lang="en-US" sz="2800" spc="-5" dirty="0">
                <a:solidFill>
                  <a:srgbClr val="494949"/>
                </a:solidFill>
                <a:latin typeface="맑은 고딕"/>
                <a:cs typeface="맑은 고딕"/>
              </a:rPr>
              <a:t>3</a:t>
            </a:r>
            <a:endParaRPr sz="2800" dirty="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34719" y="1437004"/>
            <a:ext cx="1203960" cy="1203960"/>
            <a:chOff x="934719" y="1437004"/>
            <a:chExt cx="1203960" cy="1203960"/>
          </a:xfrm>
        </p:grpSpPr>
        <p:sp>
          <p:nvSpPr>
            <p:cNvPr id="5" name="object 5"/>
            <p:cNvSpPr/>
            <p:nvPr/>
          </p:nvSpPr>
          <p:spPr>
            <a:xfrm>
              <a:off x="941069" y="1443354"/>
              <a:ext cx="1191260" cy="1191260"/>
            </a:xfrm>
            <a:custGeom>
              <a:avLst/>
              <a:gdLst/>
              <a:ahLst/>
              <a:cxnLst/>
              <a:rect l="l" t="t" r="r" b="b"/>
              <a:pathLst>
                <a:path w="1191260" h="1191260">
                  <a:moveTo>
                    <a:pt x="595630" y="0"/>
                  </a:moveTo>
                  <a:lnTo>
                    <a:pt x="546779" y="1973"/>
                  </a:lnTo>
                  <a:lnTo>
                    <a:pt x="499016" y="7793"/>
                  </a:lnTo>
                  <a:lnTo>
                    <a:pt x="452493" y="17304"/>
                  </a:lnTo>
                  <a:lnTo>
                    <a:pt x="407365" y="30356"/>
                  </a:lnTo>
                  <a:lnTo>
                    <a:pt x="363784" y="46793"/>
                  </a:lnTo>
                  <a:lnTo>
                    <a:pt x="321904" y="66464"/>
                  </a:lnTo>
                  <a:lnTo>
                    <a:pt x="281878" y="89215"/>
                  </a:lnTo>
                  <a:lnTo>
                    <a:pt x="243859" y="114893"/>
                  </a:lnTo>
                  <a:lnTo>
                    <a:pt x="208001" y="143345"/>
                  </a:lnTo>
                  <a:lnTo>
                    <a:pt x="174456" y="174418"/>
                  </a:lnTo>
                  <a:lnTo>
                    <a:pt x="143379" y="207959"/>
                  </a:lnTo>
                  <a:lnTo>
                    <a:pt x="114922" y="243815"/>
                  </a:lnTo>
                  <a:lnTo>
                    <a:pt x="89239" y="281833"/>
                  </a:lnTo>
                  <a:lnTo>
                    <a:pt x="66483" y="321859"/>
                  </a:lnTo>
                  <a:lnTo>
                    <a:pt x="46807" y="363741"/>
                  </a:lnTo>
                  <a:lnTo>
                    <a:pt x="30365" y="407326"/>
                  </a:lnTo>
                  <a:lnTo>
                    <a:pt x="17310" y="452460"/>
                  </a:lnTo>
                  <a:lnTo>
                    <a:pt x="7795" y="498991"/>
                  </a:lnTo>
                  <a:lnTo>
                    <a:pt x="1974" y="546765"/>
                  </a:lnTo>
                  <a:lnTo>
                    <a:pt x="0" y="595629"/>
                  </a:lnTo>
                  <a:lnTo>
                    <a:pt x="1974" y="644477"/>
                  </a:lnTo>
                  <a:lnTo>
                    <a:pt x="7795" y="692237"/>
                  </a:lnTo>
                  <a:lnTo>
                    <a:pt x="17310" y="738757"/>
                  </a:lnTo>
                  <a:lnTo>
                    <a:pt x="30365" y="783884"/>
                  </a:lnTo>
                  <a:lnTo>
                    <a:pt x="46807" y="827464"/>
                  </a:lnTo>
                  <a:lnTo>
                    <a:pt x="66483" y="869344"/>
                  </a:lnTo>
                  <a:lnTo>
                    <a:pt x="89239" y="909370"/>
                  </a:lnTo>
                  <a:lnTo>
                    <a:pt x="114922" y="947389"/>
                  </a:lnTo>
                  <a:lnTo>
                    <a:pt x="143379" y="983248"/>
                  </a:lnTo>
                  <a:lnTo>
                    <a:pt x="174456" y="1016793"/>
                  </a:lnTo>
                  <a:lnTo>
                    <a:pt x="208001" y="1047872"/>
                  </a:lnTo>
                  <a:lnTo>
                    <a:pt x="243859" y="1076330"/>
                  </a:lnTo>
                  <a:lnTo>
                    <a:pt x="281878" y="1102014"/>
                  </a:lnTo>
                  <a:lnTo>
                    <a:pt x="321904" y="1124771"/>
                  </a:lnTo>
                  <a:lnTo>
                    <a:pt x="363784" y="1144448"/>
                  </a:lnTo>
                  <a:lnTo>
                    <a:pt x="407365" y="1160891"/>
                  </a:lnTo>
                  <a:lnTo>
                    <a:pt x="452493" y="1173947"/>
                  </a:lnTo>
                  <a:lnTo>
                    <a:pt x="499016" y="1183463"/>
                  </a:lnTo>
                  <a:lnTo>
                    <a:pt x="546779" y="1189285"/>
                  </a:lnTo>
                  <a:lnTo>
                    <a:pt x="595630" y="1191259"/>
                  </a:lnTo>
                  <a:lnTo>
                    <a:pt x="644477" y="1189285"/>
                  </a:lnTo>
                  <a:lnTo>
                    <a:pt x="692237" y="1183463"/>
                  </a:lnTo>
                  <a:lnTo>
                    <a:pt x="738757" y="1173947"/>
                  </a:lnTo>
                  <a:lnTo>
                    <a:pt x="783884" y="1160891"/>
                  </a:lnTo>
                  <a:lnTo>
                    <a:pt x="827464" y="1144448"/>
                  </a:lnTo>
                  <a:lnTo>
                    <a:pt x="869344" y="1124771"/>
                  </a:lnTo>
                  <a:lnTo>
                    <a:pt x="909370" y="1102014"/>
                  </a:lnTo>
                  <a:lnTo>
                    <a:pt x="947389" y="1076330"/>
                  </a:lnTo>
                  <a:lnTo>
                    <a:pt x="983248" y="1047872"/>
                  </a:lnTo>
                  <a:lnTo>
                    <a:pt x="1016793" y="1016793"/>
                  </a:lnTo>
                  <a:lnTo>
                    <a:pt x="1047872" y="983248"/>
                  </a:lnTo>
                  <a:lnTo>
                    <a:pt x="1076330" y="947389"/>
                  </a:lnTo>
                  <a:lnTo>
                    <a:pt x="1102014" y="909370"/>
                  </a:lnTo>
                  <a:lnTo>
                    <a:pt x="1124771" y="869344"/>
                  </a:lnTo>
                  <a:lnTo>
                    <a:pt x="1144448" y="827464"/>
                  </a:lnTo>
                  <a:lnTo>
                    <a:pt x="1160891" y="783884"/>
                  </a:lnTo>
                  <a:lnTo>
                    <a:pt x="1173947" y="738757"/>
                  </a:lnTo>
                  <a:lnTo>
                    <a:pt x="1183463" y="692237"/>
                  </a:lnTo>
                  <a:lnTo>
                    <a:pt x="1189285" y="644477"/>
                  </a:lnTo>
                  <a:lnTo>
                    <a:pt x="1191260" y="595629"/>
                  </a:lnTo>
                  <a:lnTo>
                    <a:pt x="1189285" y="546765"/>
                  </a:lnTo>
                  <a:lnTo>
                    <a:pt x="1183463" y="498991"/>
                  </a:lnTo>
                  <a:lnTo>
                    <a:pt x="1173947" y="452460"/>
                  </a:lnTo>
                  <a:lnTo>
                    <a:pt x="1160891" y="407326"/>
                  </a:lnTo>
                  <a:lnTo>
                    <a:pt x="1144448" y="363741"/>
                  </a:lnTo>
                  <a:lnTo>
                    <a:pt x="1124771" y="321859"/>
                  </a:lnTo>
                  <a:lnTo>
                    <a:pt x="1102014" y="281833"/>
                  </a:lnTo>
                  <a:lnTo>
                    <a:pt x="1076330" y="243815"/>
                  </a:lnTo>
                  <a:lnTo>
                    <a:pt x="1047872" y="207959"/>
                  </a:lnTo>
                  <a:lnTo>
                    <a:pt x="1016793" y="174418"/>
                  </a:lnTo>
                  <a:lnTo>
                    <a:pt x="983248" y="143345"/>
                  </a:lnTo>
                  <a:lnTo>
                    <a:pt x="947389" y="114893"/>
                  </a:lnTo>
                  <a:lnTo>
                    <a:pt x="909370" y="89215"/>
                  </a:lnTo>
                  <a:lnTo>
                    <a:pt x="869344" y="66464"/>
                  </a:lnTo>
                  <a:lnTo>
                    <a:pt x="827464" y="46793"/>
                  </a:lnTo>
                  <a:lnTo>
                    <a:pt x="783884" y="30356"/>
                  </a:lnTo>
                  <a:lnTo>
                    <a:pt x="738757" y="17304"/>
                  </a:lnTo>
                  <a:lnTo>
                    <a:pt x="692237" y="7793"/>
                  </a:lnTo>
                  <a:lnTo>
                    <a:pt x="644477" y="1973"/>
                  </a:lnTo>
                  <a:lnTo>
                    <a:pt x="5956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1069" y="1443354"/>
              <a:ext cx="1191260" cy="1191260"/>
            </a:xfrm>
            <a:custGeom>
              <a:avLst/>
              <a:gdLst/>
              <a:ahLst/>
              <a:cxnLst/>
              <a:rect l="l" t="t" r="r" b="b"/>
              <a:pathLst>
                <a:path w="1191260" h="1191260">
                  <a:moveTo>
                    <a:pt x="0" y="595629"/>
                  </a:moveTo>
                  <a:lnTo>
                    <a:pt x="1974" y="546765"/>
                  </a:lnTo>
                  <a:lnTo>
                    <a:pt x="7795" y="498991"/>
                  </a:lnTo>
                  <a:lnTo>
                    <a:pt x="17310" y="452460"/>
                  </a:lnTo>
                  <a:lnTo>
                    <a:pt x="30365" y="407326"/>
                  </a:lnTo>
                  <a:lnTo>
                    <a:pt x="46807" y="363741"/>
                  </a:lnTo>
                  <a:lnTo>
                    <a:pt x="66483" y="321859"/>
                  </a:lnTo>
                  <a:lnTo>
                    <a:pt x="89239" y="281833"/>
                  </a:lnTo>
                  <a:lnTo>
                    <a:pt x="114922" y="243815"/>
                  </a:lnTo>
                  <a:lnTo>
                    <a:pt x="143379" y="207959"/>
                  </a:lnTo>
                  <a:lnTo>
                    <a:pt x="174456" y="174418"/>
                  </a:lnTo>
                  <a:lnTo>
                    <a:pt x="208001" y="143345"/>
                  </a:lnTo>
                  <a:lnTo>
                    <a:pt x="243859" y="114893"/>
                  </a:lnTo>
                  <a:lnTo>
                    <a:pt x="281878" y="89215"/>
                  </a:lnTo>
                  <a:lnTo>
                    <a:pt x="321904" y="66464"/>
                  </a:lnTo>
                  <a:lnTo>
                    <a:pt x="363784" y="46793"/>
                  </a:lnTo>
                  <a:lnTo>
                    <a:pt x="407365" y="30356"/>
                  </a:lnTo>
                  <a:lnTo>
                    <a:pt x="452493" y="17304"/>
                  </a:lnTo>
                  <a:lnTo>
                    <a:pt x="499016" y="7793"/>
                  </a:lnTo>
                  <a:lnTo>
                    <a:pt x="546779" y="1973"/>
                  </a:lnTo>
                  <a:lnTo>
                    <a:pt x="595630" y="0"/>
                  </a:lnTo>
                  <a:lnTo>
                    <a:pt x="644477" y="1973"/>
                  </a:lnTo>
                  <a:lnTo>
                    <a:pt x="692237" y="7793"/>
                  </a:lnTo>
                  <a:lnTo>
                    <a:pt x="738757" y="17304"/>
                  </a:lnTo>
                  <a:lnTo>
                    <a:pt x="783884" y="30356"/>
                  </a:lnTo>
                  <a:lnTo>
                    <a:pt x="827464" y="46793"/>
                  </a:lnTo>
                  <a:lnTo>
                    <a:pt x="869344" y="66464"/>
                  </a:lnTo>
                  <a:lnTo>
                    <a:pt x="909370" y="89215"/>
                  </a:lnTo>
                  <a:lnTo>
                    <a:pt x="947389" y="114893"/>
                  </a:lnTo>
                  <a:lnTo>
                    <a:pt x="983248" y="143345"/>
                  </a:lnTo>
                  <a:lnTo>
                    <a:pt x="1016793" y="174418"/>
                  </a:lnTo>
                  <a:lnTo>
                    <a:pt x="1047872" y="207959"/>
                  </a:lnTo>
                  <a:lnTo>
                    <a:pt x="1076330" y="243815"/>
                  </a:lnTo>
                  <a:lnTo>
                    <a:pt x="1102014" y="281833"/>
                  </a:lnTo>
                  <a:lnTo>
                    <a:pt x="1124771" y="321859"/>
                  </a:lnTo>
                  <a:lnTo>
                    <a:pt x="1144448" y="363741"/>
                  </a:lnTo>
                  <a:lnTo>
                    <a:pt x="1160891" y="407326"/>
                  </a:lnTo>
                  <a:lnTo>
                    <a:pt x="1173947" y="452460"/>
                  </a:lnTo>
                  <a:lnTo>
                    <a:pt x="1183463" y="498991"/>
                  </a:lnTo>
                  <a:lnTo>
                    <a:pt x="1189285" y="546765"/>
                  </a:lnTo>
                  <a:lnTo>
                    <a:pt x="1191260" y="595629"/>
                  </a:lnTo>
                  <a:lnTo>
                    <a:pt x="1189285" y="644477"/>
                  </a:lnTo>
                  <a:lnTo>
                    <a:pt x="1183463" y="692237"/>
                  </a:lnTo>
                  <a:lnTo>
                    <a:pt x="1173947" y="738757"/>
                  </a:lnTo>
                  <a:lnTo>
                    <a:pt x="1160891" y="783884"/>
                  </a:lnTo>
                  <a:lnTo>
                    <a:pt x="1144448" y="827464"/>
                  </a:lnTo>
                  <a:lnTo>
                    <a:pt x="1124771" y="869344"/>
                  </a:lnTo>
                  <a:lnTo>
                    <a:pt x="1102014" y="909370"/>
                  </a:lnTo>
                  <a:lnTo>
                    <a:pt x="1076330" y="947389"/>
                  </a:lnTo>
                  <a:lnTo>
                    <a:pt x="1047872" y="983248"/>
                  </a:lnTo>
                  <a:lnTo>
                    <a:pt x="1016793" y="1016793"/>
                  </a:lnTo>
                  <a:lnTo>
                    <a:pt x="983248" y="1047872"/>
                  </a:lnTo>
                  <a:lnTo>
                    <a:pt x="947389" y="1076330"/>
                  </a:lnTo>
                  <a:lnTo>
                    <a:pt x="909370" y="1102014"/>
                  </a:lnTo>
                  <a:lnTo>
                    <a:pt x="869344" y="1124771"/>
                  </a:lnTo>
                  <a:lnTo>
                    <a:pt x="827464" y="1144448"/>
                  </a:lnTo>
                  <a:lnTo>
                    <a:pt x="783884" y="1160891"/>
                  </a:lnTo>
                  <a:lnTo>
                    <a:pt x="738757" y="1173947"/>
                  </a:lnTo>
                  <a:lnTo>
                    <a:pt x="692237" y="1183463"/>
                  </a:lnTo>
                  <a:lnTo>
                    <a:pt x="644477" y="1189285"/>
                  </a:lnTo>
                  <a:lnTo>
                    <a:pt x="595630" y="1191259"/>
                  </a:lnTo>
                  <a:lnTo>
                    <a:pt x="546779" y="1189285"/>
                  </a:lnTo>
                  <a:lnTo>
                    <a:pt x="499016" y="1183463"/>
                  </a:lnTo>
                  <a:lnTo>
                    <a:pt x="452493" y="1173947"/>
                  </a:lnTo>
                  <a:lnTo>
                    <a:pt x="407365" y="1160891"/>
                  </a:lnTo>
                  <a:lnTo>
                    <a:pt x="363784" y="1144448"/>
                  </a:lnTo>
                  <a:lnTo>
                    <a:pt x="321904" y="1124771"/>
                  </a:lnTo>
                  <a:lnTo>
                    <a:pt x="281878" y="1102014"/>
                  </a:lnTo>
                  <a:lnTo>
                    <a:pt x="243859" y="1076330"/>
                  </a:lnTo>
                  <a:lnTo>
                    <a:pt x="208001" y="1047872"/>
                  </a:lnTo>
                  <a:lnTo>
                    <a:pt x="174456" y="1016793"/>
                  </a:lnTo>
                  <a:lnTo>
                    <a:pt x="143379" y="983248"/>
                  </a:lnTo>
                  <a:lnTo>
                    <a:pt x="114922" y="947389"/>
                  </a:lnTo>
                  <a:lnTo>
                    <a:pt x="89239" y="909370"/>
                  </a:lnTo>
                  <a:lnTo>
                    <a:pt x="66483" y="869344"/>
                  </a:lnTo>
                  <a:lnTo>
                    <a:pt x="46807" y="827464"/>
                  </a:lnTo>
                  <a:lnTo>
                    <a:pt x="30365" y="783884"/>
                  </a:lnTo>
                  <a:lnTo>
                    <a:pt x="17310" y="738757"/>
                  </a:lnTo>
                  <a:lnTo>
                    <a:pt x="7795" y="692237"/>
                  </a:lnTo>
                  <a:lnTo>
                    <a:pt x="1974" y="644477"/>
                  </a:lnTo>
                  <a:lnTo>
                    <a:pt x="0" y="595629"/>
                  </a:lnTo>
                  <a:close/>
                </a:path>
              </a:pathLst>
            </a:custGeom>
            <a:ln w="1270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019810" y="4083557"/>
            <a:ext cx="899794" cy="0"/>
          </a:xfrm>
          <a:custGeom>
            <a:avLst/>
            <a:gdLst/>
            <a:ahLst/>
            <a:cxnLst/>
            <a:rect l="l" t="t" r="r" b="b"/>
            <a:pathLst>
              <a:path w="899794">
                <a:moveTo>
                  <a:pt x="0" y="0"/>
                </a:moveTo>
                <a:lnTo>
                  <a:pt x="899795" y="0"/>
                </a:lnTo>
              </a:path>
            </a:pathLst>
          </a:custGeom>
          <a:ln w="63500">
            <a:solidFill>
              <a:srgbClr val="1E73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8C8C596D-6D22-BBE6-C1A0-C72817679265}"/>
              </a:ext>
            </a:extLst>
          </p:cNvPr>
          <p:cNvSpPr txBox="1"/>
          <p:nvPr/>
        </p:nvSpPr>
        <p:spPr>
          <a:xfrm>
            <a:off x="888287" y="4788752"/>
            <a:ext cx="6318963" cy="634148"/>
          </a:xfrm>
          <a:prstGeom prst="rect">
            <a:avLst/>
          </a:prstGeom>
        </p:spPr>
        <p:txBody>
          <a:bodyPr vert="horz" wrap="square" lIns="0" tIns="20129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lang="en-US" sz="2800" spc="-5" dirty="0">
                <a:solidFill>
                  <a:srgbClr val="777777"/>
                </a:solidFill>
                <a:latin typeface="맑은 고딕"/>
                <a:cs typeface="맑은 고딕"/>
              </a:rPr>
              <a:t>{{DATE_RANGE_HYPHEN}}</a:t>
            </a:r>
            <a:endParaRPr sz="2800" dirty="0">
              <a:latin typeface="맑은 고딕"/>
              <a:cs typeface="맑은 고딕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743C8892-E5FE-068D-A6FE-392104DB3E8E}"/>
              </a:ext>
            </a:extLst>
          </p:cNvPr>
          <p:cNvSpPr txBox="1">
            <a:spLocks/>
          </p:cNvSpPr>
          <p:nvPr/>
        </p:nvSpPr>
        <p:spPr>
          <a:xfrm>
            <a:off x="888288" y="2683509"/>
            <a:ext cx="57423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latinLnBrk="0">
              <a:spcBef>
                <a:spcPts val="100"/>
              </a:spcBef>
            </a:pPr>
            <a:r>
              <a:rPr kumimoji="0" lang="ko-KR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1E73BD"/>
                </a:solidFill>
                <a:effectLst/>
                <a:uLnTx/>
                <a:uFillTx/>
                <a:latin typeface="맑은 고딕"/>
                <a:ea typeface="+mj-ea"/>
              </a:rPr>
              <a:t>월간</a:t>
            </a:r>
            <a:r>
              <a:rPr kumimoji="0" lang="ko-KR" altLang="en-US" sz="6000" b="1" i="0" u="none" strike="noStrike" kern="0" cap="none" spc="790" normalizeH="0" baseline="0" noProof="0" dirty="0">
                <a:ln>
                  <a:noFill/>
                </a:ln>
                <a:solidFill>
                  <a:srgbClr val="1E73BD"/>
                </a:solidFill>
                <a:effectLst/>
                <a:uLnTx/>
                <a:uFillTx/>
                <a:latin typeface="맑은 고딕"/>
                <a:ea typeface="+mj-ea"/>
              </a:rPr>
              <a:t> </a:t>
            </a:r>
            <a:r>
              <a:rPr kumimoji="0" lang="ko-KR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1E73BD"/>
                </a:solidFill>
                <a:effectLst/>
                <a:uLnTx/>
                <a:uFillTx/>
                <a:latin typeface="맑은 고딕"/>
                <a:ea typeface="+mj-ea"/>
              </a:rPr>
              <a:t>정기보고서</a:t>
            </a:r>
            <a:endParaRPr lang="ko-KR" altLang="en-US" sz="6000" b="1" dirty="0">
              <a:solidFill>
                <a:srgbClr val="1E73BD"/>
              </a:solidFill>
              <a:latin typeface="맑은 고딕"/>
            </a:endParaRP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CFCFFA60-04B2-6E6D-B2B7-75A2D2C7AE5E}"/>
              </a:ext>
            </a:extLst>
          </p:cNvPr>
          <p:cNvSpPr txBox="1"/>
          <p:nvPr/>
        </p:nvSpPr>
        <p:spPr>
          <a:xfrm>
            <a:off x="1162608" y="1564894"/>
            <a:ext cx="3072842" cy="95504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ts val="3060"/>
              </a:lnSpc>
              <a:spcBef>
                <a:spcPts val="100"/>
              </a:spcBef>
            </a:pPr>
            <a:r>
              <a:rPr sz="2600" spc="-5" dirty="0">
                <a:solidFill>
                  <a:srgbClr val="FFFFFF"/>
                </a:solidFill>
                <a:latin typeface="Cambria"/>
                <a:cs typeface="Cambria"/>
              </a:rPr>
              <a:t>2025</a:t>
            </a:r>
            <a:endParaRPr sz="2600" dirty="0">
              <a:latin typeface="Cambria"/>
              <a:cs typeface="Cambria"/>
            </a:endParaRPr>
          </a:p>
          <a:p>
            <a:pPr marL="125095">
              <a:lnSpc>
                <a:spcPts val="4260"/>
              </a:lnSpc>
            </a:pPr>
            <a:r>
              <a:rPr lang="en-US" sz="3600" spc="-5" dirty="0">
                <a:solidFill>
                  <a:srgbClr val="FFFFFF"/>
                </a:solidFill>
                <a:latin typeface="Cambria"/>
                <a:cs typeface="Cambria"/>
              </a:rPr>
              <a:t>{{MONTH}}</a:t>
            </a:r>
            <a:endParaRPr sz="36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830">
              <a:lnSpc>
                <a:spcPct val="100000"/>
              </a:lnSpc>
              <a:spcBef>
                <a:spcPts val="100"/>
              </a:spcBef>
            </a:pPr>
            <a:r>
              <a:rPr dirty="0"/>
              <a:t>목</a:t>
            </a:r>
            <a:r>
              <a:rPr spc="395" dirty="0"/>
              <a:t> </a:t>
            </a:r>
            <a:r>
              <a:rPr dirty="0"/>
              <a:t>차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7180" y="1874265"/>
            <a:ext cx="4547870" cy="6116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맑은 고딕"/>
                <a:cs typeface="맑은 고딕"/>
              </a:rPr>
              <a:t>개</a:t>
            </a:r>
            <a:r>
              <a:rPr sz="2400" spc="295" dirty="0">
                <a:latin typeface="맑은 고딕"/>
                <a:cs typeface="맑은 고딕"/>
              </a:rPr>
              <a:t> </a:t>
            </a:r>
            <a:r>
              <a:rPr sz="2400" dirty="0">
                <a:latin typeface="맑은 고딕"/>
                <a:cs typeface="맑은 고딕"/>
              </a:rPr>
              <a:t>요</a:t>
            </a:r>
            <a:endParaRPr sz="2400">
              <a:latin typeface="맑은 고딕"/>
              <a:cs typeface="맑은 고딕"/>
            </a:endParaRPr>
          </a:p>
          <a:p>
            <a:pPr marL="571500" indent="-279400">
              <a:lnSpc>
                <a:spcPct val="100000"/>
              </a:lnSpc>
              <a:spcBef>
                <a:spcPts val="2065"/>
              </a:spcBef>
              <a:buAutoNum type="romanUcPeriod"/>
              <a:tabLst>
                <a:tab pos="572135" algn="l"/>
              </a:tabLst>
            </a:pPr>
            <a:r>
              <a:rPr sz="2400" b="1" dirty="0">
                <a:latin typeface="맑은 고딕"/>
                <a:cs typeface="맑은 고딕"/>
              </a:rPr>
              <a:t>고객</a:t>
            </a:r>
            <a:r>
              <a:rPr sz="2400" b="1" spc="330" dirty="0">
                <a:latin typeface="맑은 고딕"/>
                <a:cs typeface="맑은 고딕"/>
              </a:rPr>
              <a:t> </a:t>
            </a:r>
            <a:r>
              <a:rPr sz="2400" b="1" dirty="0">
                <a:latin typeface="맑은 고딕"/>
                <a:cs typeface="맑은 고딕"/>
              </a:rPr>
              <a:t>및</a:t>
            </a:r>
            <a:r>
              <a:rPr sz="2400" b="1" spc="330" dirty="0">
                <a:latin typeface="맑은 고딕"/>
                <a:cs typeface="맑은 고딕"/>
              </a:rPr>
              <a:t> </a:t>
            </a:r>
            <a:r>
              <a:rPr sz="2400" b="1" dirty="0">
                <a:latin typeface="맑은 고딕"/>
                <a:cs typeface="맑은 고딕"/>
              </a:rPr>
              <a:t>서비스</a:t>
            </a:r>
            <a:r>
              <a:rPr sz="2400" b="1" spc="330" dirty="0">
                <a:latin typeface="맑은 고딕"/>
                <a:cs typeface="맑은 고딕"/>
              </a:rPr>
              <a:t> </a:t>
            </a:r>
            <a:r>
              <a:rPr sz="2400" b="1" dirty="0">
                <a:latin typeface="맑은 고딕"/>
                <a:cs typeface="맑은 고딕"/>
              </a:rPr>
              <a:t>담당자</a:t>
            </a:r>
            <a:r>
              <a:rPr sz="2400" b="1" spc="330" dirty="0">
                <a:latin typeface="맑은 고딕"/>
                <a:cs typeface="맑은 고딕"/>
              </a:rPr>
              <a:t> </a:t>
            </a:r>
            <a:r>
              <a:rPr sz="2400" b="1" dirty="0">
                <a:latin typeface="맑은 고딕"/>
                <a:cs typeface="맑은 고딕"/>
              </a:rPr>
              <a:t>정보</a:t>
            </a:r>
            <a:endParaRPr sz="2400">
              <a:latin typeface="맑은 고딕"/>
              <a:cs typeface="맑은 고딕"/>
            </a:endParaRPr>
          </a:p>
          <a:p>
            <a:pPr marL="829310" lvl="1" indent="-258445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829944" algn="l"/>
              </a:tabLst>
            </a:pPr>
            <a:r>
              <a:rPr sz="1600" spc="-5" dirty="0">
                <a:latin typeface="맑은 고딕"/>
                <a:cs typeface="맑은 고딕"/>
              </a:rPr>
              <a:t>고객</a:t>
            </a:r>
            <a:r>
              <a:rPr sz="1600" spc="18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계정</a:t>
            </a:r>
            <a:endParaRPr sz="1600">
              <a:latin typeface="맑은 고딕"/>
              <a:cs typeface="맑은 고딕"/>
            </a:endParaRPr>
          </a:p>
          <a:p>
            <a:pPr marL="798195" lvl="1" indent="-227329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798830" algn="l"/>
              </a:tabLst>
            </a:pPr>
            <a:r>
              <a:rPr sz="1600" spc="-5" dirty="0">
                <a:latin typeface="맑은 고딕"/>
                <a:cs typeface="맑은 고딕"/>
              </a:rPr>
              <a:t>VLAN24</a:t>
            </a:r>
            <a:r>
              <a:rPr sz="1600" spc="21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기술</a:t>
            </a:r>
            <a:r>
              <a:rPr sz="1600" spc="22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지원</a:t>
            </a:r>
            <a:r>
              <a:rPr sz="1600" spc="2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담당자</a:t>
            </a:r>
            <a:endParaRPr sz="1600">
              <a:latin typeface="맑은 고딕"/>
              <a:cs typeface="맑은 고딕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"/>
              <a:buAutoNum type="arabicPeriod"/>
            </a:pPr>
            <a:endParaRPr sz="2100">
              <a:latin typeface="맑은 고딕"/>
              <a:cs typeface="맑은 고딕"/>
            </a:endParaRPr>
          </a:p>
          <a:p>
            <a:pPr marL="571500" indent="-279400">
              <a:lnSpc>
                <a:spcPct val="100000"/>
              </a:lnSpc>
              <a:spcBef>
                <a:spcPts val="5"/>
              </a:spcBef>
              <a:buAutoNum type="romanUcPeriod"/>
              <a:tabLst>
                <a:tab pos="572135" algn="l"/>
              </a:tabLst>
            </a:pPr>
            <a:r>
              <a:rPr sz="2400" b="1" dirty="0">
                <a:latin typeface="맑은 고딕"/>
                <a:cs typeface="맑은 고딕"/>
              </a:rPr>
              <a:t>서비스</a:t>
            </a:r>
            <a:r>
              <a:rPr sz="2400" b="1" spc="320" dirty="0">
                <a:latin typeface="맑은 고딕"/>
                <a:cs typeface="맑은 고딕"/>
              </a:rPr>
              <a:t> </a:t>
            </a:r>
            <a:r>
              <a:rPr sz="2400" b="1" dirty="0">
                <a:latin typeface="맑은 고딕"/>
                <a:cs typeface="맑은 고딕"/>
              </a:rPr>
              <a:t>및</a:t>
            </a:r>
            <a:r>
              <a:rPr sz="2400" b="1" spc="320" dirty="0">
                <a:latin typeface="맑은 고딕"/>
                <a:cs typeface="맑은 고딕"/>
              </a:rPr>
              <a:t> </a:t>
            </a:r>
            <a:r>
              <a:rPr sz="2400" b="1" dirty="0">
                <a:latin typeface="맑은 고딕"/>
                <a:cs typeface="맑은 고딕"/>
              </a:rPr>
              <a:t>서버</a:t>
            </a:r>
            <a:r>
              <a:rPr sz="2400" b="1" spc="325" dirty="0">
                <a:latin typeface="맑은 고딕"/>
                <a:cs typeface="맑은 고딕"/>
              </a:rPr>
              <a:t> </a:t>
            </a:r>
            <a:r>
              <a:rPr sz="2400" b="1" dirty="0">
                <a:latin typeface="맑은 고딕"/>
                <a:cs typeface="맑은 고딕"/>
              </a:rPr>
              <a:t>현황</a:t>
            </a:r>
            <a:endParaRPr sz="2400">
              <a:latin typeface="맑은 고딕"/>
              <a:cs typeface="맑은 고딕"/>
            </a:endParaRPr>
          </a:p>
          <a:p>
            <a:pPr marL="829310" lvl="1" indent="-258445">
              <a:lnSpc>
                <a:spcPct val="100000"/>
              </a:lnSpc>
              <a:spcBef>
                <a:spcPts val="1025"/>
              </a:spcBef>
              <a:buAutoNum type="arabicPeriod"/>
              <a:tabLst>
                <a:tab pos="829944" algn="l"/>
              </a:tabLst>
            </a:pPr>
            <a:r>
              <a:rPr sz="1600" spc="-5" dirty="0">
                <a:latin typeface="맑은 고딕"/>
                <a:cs typeface="맑은 고딕"/>
              </a:rPr>
              <a:t>서버</a:t>
            </a:r>
            <a:r>
              <a:rPr sz="1600" spc="204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모니터링</a:t>
            </a:r>
            <a:r>
              <a:rPr sz="1600" spc="204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기간</a:t>
            </a:r>
            <a:endParaRPr sz="1600">
              <a:latin typeface="맑은 고딕"/>
              <a:cs typeface="맑은 고딕"/>
            </a:endParaRPr>
          </a:p>
          <a:p>
            <a:pPr marL="829310" lvl="1" indent="-258445">
              <a:lnSpc>
                <a:spcPct val="100000"/>
              </a:lnSpc>
              <a:spcBef>
                <a:spcPts val="855"/>
              </a:spcBef>
              <a:buAutoNum type="arabicPeriod"/>
              <a:tabLst>
                <a:tab pos="829944" algn="l"/>
              </a:tabLst>
            </a:pPr>
            <a:r>
              <a:rPr sz="1600" spc="-5" dirty="0">
                <a:latin typeface="맑은 고딕"/>
                <a:cs typeface="맑은 고딕"/>
              </a:rPr>
              <a:t>서버</a:t>
            </a:r>
            <a:r>
              <a:rPr sz="1600" spc="21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및</a:t>
            </a:r>
            <a:r>
              <a:rPr sz="1600" spc="21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장비</a:t>
            </a:r>
            <a:r>
              <a:rPr sz="1600" spc="22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사용현황</a:t>
            </a:r>
            <a:endParaRPr sz="1600">
              <a:latin typeface="맑은 고딕"/>
              <a:cs typeface="맑은 고딕"/>
            </a:endParaRPr>
          </a:p>
          <a:p>
            <a:pPr marL="829310" lvl="1" indent="-258445">
              <a:lnSpc>
                <a:spcPct val="100000"/>
              </a:lnSpc>
              <a:spcBef>
                <a:spcPts val="850"/>
              </a:spcBef>
              <a:buAutoNum type="arabicPeriod"/>
              <a:tabLst>
                <a:tab pos="829944" algn="l"/>
              </a:tabLst>
            </a:pPr>
            <a:r>
              <a:rPr sz="1600" spc="-5" dirty="0">
                <a:latin typeface="맑은 고딕"/>
                <a:cs typeface="맑은 고딕"/>
              </a:rPr>
              <a:t>장비별</a:t>
            </a:r>
            <a:r>
              <a:rPr sz="1600" spc="180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사용현황</a:t>
            </a:r>
            <a:endParaRPr sz="1600">
              <a:latin typeface="맑은 고딕"/>
              <a:cs typeface="맑은 고딕"/>
            </a:endParaRPr>
          </a:p>
          <a:p>
            <a:pPr marL="829310" lvl="1" indent="-258445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829944" algn="l"/>
              </a:tabLst>
            </a:pPr>
            <a:r>
              <a:rPr sz="1600" spc="-5" dirty="0">
                <a:latin typeface="맑은 고딕"/>
                <a:cs typeface="맑은 고딕"/>
              </a:rPr>
              <a:t>네트워크</a:t>
            </a:r>
            <a:r>
              <a:rPr sz="1600" spc="23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사용량</a:t>
            </a:r>
            <a:r>
              <a:rPr sz="1600" spc="229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(Traffic</a:t>
            </a:r>
            <a:r>
              <a:rPr sz="1600" spc="23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사용량)</a:t>
            </a:r>
            <a:endParaRPr sz="1600">
              <a:latin typeface="맑은 고딕"/>
              <a:cs typeface="맑은 고딕"/>
            </a:endParaRPr>
          </a:p>
          <a:p>
            <a:pPr lvl="1">
              <a:lnSpc>
                <a:spcPct val="100000"/>
              </a:lnSpc>
              <a:spcBef>
                <a:spcPts val="70"/>
              </a:spcBef>
              <a:buFont typeface=""/>
              <a:buAutoNum type="arabicPeriod"/>
            </a:pPr>
            <a:endParaRPr sz="2850">
              <a:latin typeface="맑은 고딕"/>
              <a:cs typeface="맑은 고딕"/>
            </a:endParaRPr>
          </a:p>
          <a:p>
            <a:pPr marL="749935" indent="-457834">
              <a:lnSpc>
                <a:spcPct val="100000"/>
              </a:lnSpc>
              <a:buAutoNum type="romanUcPeriod"/>
              <a:tabLst>
                <a:tab pos="750570" algn="l"/>
              </a:tabLst>
            </a:pPr>
            <a:r>
              <a:rPr sz="2400" b="1" dirty="0">
                <a:latin typeface="맑은 고딕"/>
                <a:cs typeface="맑은 고딕"/>
              </a:rPr>
              <a:t>기술</a:t>
            </a:r>
            <a:r>
              <a:rPr sz="2400" b="1" spc="315" dirty="0">
                <a:latin typeface="맑은 고딕"/>
                <a:cs typeface="맑은 고딕"/>
              </a:rPr>
              <a:t> </a:t>
            </a:r>
            <a:r>
              <a:rPr sz="2400" b="1" dirty="0">
                <a:latin typeface="맑은 고딕"/>
                <a:cs typeface="맑은 고딕"/>
              </a:rPr>
              <a:t>지원</a:t>
            </a:r>
            <a:r>
              <a:rPr sz="2400" b="1" spc="320" dirty="0">
                <a:latin typeface="맑은 고딕"/>
                <a:cs typeface="맑은 고딕"/>
              </a:rPr>
              <a:t> </a:t>
            </a:r>
            <a:r>
              <a:rPr sz="2400" b="1" dirty="0">
                <a:latin typeface="맑은 고딕"/>
                <a:cs typeface="맑은 고딕"/>
              </a:rPr>
              <a:t>내역</a:t>
            </a:r>
            <a:endParaRPr sz="24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"/>
              <a:buAutoNum type="romanUcPeriod"/>
            </a:pPr>
            <a:endParaRPr sz="2950">
              <a:latin typeface="맑은 고딕"/>
              <a:cs typeface="맑은 고딕"/>
            </a:endParaRPr>
          </a:p>
          <a:p>
            <a:pPr marL="749935" indent="-457834">
              <a:lnSpc>
                <a:spcPct val="100000"/>
              </a:lnSpc>
              <a:buAutoNum type="romanUcPeriod"/>
              <a:tabLst>
                <a:tab pos="750570" algn="l"/>
              </a:tabLst>
            </a:pPr>
            <a:r>
              <a:rPr sz="2400" b="1" dirty="0">
                <a:latin typeface="맑은 고딕"/>
                <a:cs typeface="맑은 고딕"/>
              </a:rPr>
              <a:t>총평</a:t>
            </a:r>
            <a:endParaRPr sz="24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2883535" cy="1073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0504" indent="-218440">
              <a:lnSpc>
                <a:spcPct val="100000"/>
              </a:lnSpc>
              <a:spcBef>
                <a:spcPts val="95"/>
              </a:spcBef>
              <a:buAutoNum type="romanUcPeriod"/>
              <a:tabLst>
                <a:tab pos="231140" algn="l"/>
              </a:tabLst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고객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5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담당자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정보</a:t>
            </a:r>
            <a:endParaRPr sz="16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1E73BD"/>
              </a:buClr>
              <a:buFont typeface=""/>
              <a:buAutoNum type="romanUcPeriod"/>
            </a:pPr>
            <a:endParaRPr sz="2400">
              <a:latin typeface="맑은 고딕"/>
              <a:cs typeface="맑은 고딕"/>
            </a:endParaRPr>
          </a:p>
          <a:p>
            <a:pPr marL="571500" lvl="1" indent="-28067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72135" algn="l"/>
              </a:tabLst>
            </a:pPr>
            <a:r>
              <a:rPr sz="1600" b="1" spc="-5" dirty="0">
                <a:latin typeface="맑은 고딕"/>
                <a:cs typeface="맑은 고딕"/>
              </a:rPr>
              <a:t>고객사</a:t>
            </a:r>
            <a:r>
              <a:rPr sz="1600" b="1" spc="18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정보</a:t>
            </a:r>
            <a:endParaRPr sz="1600">
              <a:latin typeface="맑은 고딕"/>
              <a:cs typeface="맑은 고딕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0988" y="2251201"/>
          <a:ext cx="5756274" cy="6781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6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5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5551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b="1" spc="-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고객사</a:t>
                      </a:r>
                      <a:r>
                        <a:rPr sz="1000" b="1" spc="12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1000" b="1" spc="-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정보</a:t>
                      </a:r>
                      <a:r>
                        <a:rPr sz="1000" b="1" spc="12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등록</a:t>
                      </a:r>
                      <a:r>
                        <a:rPr sz="1000" b="1" spc="12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1000" b="1" spc="-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현황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E73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" dirty="0">
                          <a:latin typeface="맑은 고딕"/>
                          <a:cs typeface="맑은 고딕"/>
                        </a:rPr>
                        <a:t>고객사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" dirty="0">
                          <a:latin typeface="맑은 고딕"/>
                          <a:cs typeface="맑은 고딕"/>
                        </a:rPr>
                        <a:t>담당자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" dirty="0">
                          <a:latin typeface="맑은 고딕"/>
                          <a:cs typeface="맑은 고딕"/>
                        </a:rPr>
                        <a:t>연락처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" dirty="0">
                          <a:latin typeface="맑은 고딕"/>
                          <a:cs typeface="맑은 고딕"/>
                        </a:rPr>
                        <a:t>E-mail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" dirty="0">
                          <a:latin typeface="맑은 고딕"/>
                          <a:cs typeface="맑은 고딕"/>
                        </a:rPr>
                        <a:t>고객</a:t>
                      </a:r>
                      <a:r>
                        <a:rPr sz="1000" spc="95" dirty="0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1000" spc="-5" dirty="0">
                          <a:latin typeface="맑은 고딕"/>
                          <a:cs typeface="맑은 고딕"/>
                        </a:rPr>
                        <a:t>계정명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5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10" dirty="0">
                          <a:latin typeface="맑은 고딕"/>
                          <a:cs typeface="맑은 고딕"/>
                        </a:rPr>
                        <a:t>GIT3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" dirty="0">
                          <a:latin typeface="맑은 고딕"/>
                          <a:cs typeface="맑은 고딕"/>
                        </a:rPr>
                        <a:t>이종훈</a:t>
                      </a:r>
                      <a:r>
                        <a:rPr sz="1000" spc="90" dirty="0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1000" spc="-5" dirty="0">
                          <a:latin typeface="맑은 고딕"/>
                          <a:cs typeface="맑은 고딕"/>
                        </a:rPr>
                        <a:t>책임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" dirty="0">
                          <a:latin typeface="맑은 고딕"/>
                          <a:cs typeface="맑은 고딕"/>
                        </a:rPr>
                        <a:t>02-2189-3356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" dirty="0">
                          <a:latin typeface="맑은 고딕"/>
                          <a:cs typeface="맑은 고딕"/>
                          <a:hlinkClick r:id="rId2"/>
                        </a:rPr>
                        <a:t>lee21115@gitauto.com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" dirty="0">
                          <a:latin typeface="맑은 고딕"/>
                          <a:cs typeface="맑은 고딕"/>
                          <a:hlinkClick r:id="rId3"/>
                        </a:rPr>
                        <a:t>gitserver3@gitauto.com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167180" y="3334638"/>
            <a:ext cx="2813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맑은 고딕"/>
                <a:cs typeface="맑은 고딕"/>
              </a:rPr>
              <a:t>2.</a:t>
            </a:r>
            <a:r>
              <a:rPr sz="1600" b="1" spc="28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VLAN24</a:t>
            </a:r>
            <a:r>
              <a:rPr sz="1600" b="1" spc="225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기술</a:t>
            </a:r>
            <a:r>
              <a:rPr sz="1600" b="1" spc="24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지원</a:t>
            </a:r>
            <a:r>
              <a:rPr sz="1600" b="1" spc="22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담당자</a:t>
            </a:r>
            <a:endParaRPr sz="1600">
              <a:latin typeface="맑은 고딕"/>
              <a:cs typeface="맑은 고딕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97940" y="3740530"/>
          <a:ext cx="5757545" cy="9037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1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16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5551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기술</a:t>
                      </a:r>
                      <a:r>
                        <a:rPr sz="1000" spc="12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1000" spc="-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지원</a:t>
                      </a:r>
                      <a:r>
                        <a:rPr sz="1000" spc="130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1000" spc="-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담당자</a:t>
                      </a:r>
                      <a:r>
                        <a:rPr sz="1000" spc="130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1000" spc="-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현황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E73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5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" dirty="0">
                          <a:latin typeface="맑은 고딕"/>
                          <a:cs typeface="맑은 고딕"/>
                        </a:rPr>
                        <a:t>이름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" dirty="0">
                          <a:latin typeface="맑은 고딕"/>
                          <a:cs typeface="맑은 고딕"/>
                        </a:rPr>
                        <a:t>직급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" dirty="0">
                          <a:latin typeface="맑은 고딕"/>
                          <a:cs typeface="맑은 고딕"/>
                        </a:rPr>
                        <a:t>연락처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" dirty="0">
                          <a:latin typeface="맑은 고딕"/>
                          <a:cs typeface="맑은 고딕"/>
                        </a:rPr>
                        <a:t>E-mail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0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00" dirty="0">
                          <a:latin typeface="맑은 고딕"/>
                          <a:cs typeface="맑은 고딕"/>
                        </a:rPr>
                        <a:t>정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00" spc="-5" dirty="0">
                          <a:latin typeface="맑은 고딕"/>
                          <a:cs typeface="맑은 고딕"/>
                        </a:rPr>
                        <a:t>김민규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00" spc="-5" dirty="0">
                          <a:latin typeface="맑은 고딕"/>
                          <a:cs typeface="맑은 고딕"/>
                        </a:rPr>
                        <a:t>부장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00" spc="-5" dirty="0">
                          <a:latin typeface="맑은 고딕"/>
                          <a:cs typeface="맑은 고딕"/>
                        </a:rPr>
                        <a:t>010-3779-5158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00" u="sng" spc="-5" dirty="0">
                          <a:solidFill>
                            <a:srgbClr val="467885"/>
                          </a:solidFill>
                          <a:uFill>
                            <a:solidFill>
                              <a:srgbClr val="467885"/>
                            </a:solidFill>
                          </a:uFill>
                          <a:latin typeface="맑은 고딕"/>
                          <a:cs typeface="맑은 고딕"/>
                          <a:hlinkClick r:id="rId4"/>
                        </a:rPr>
                        <a:t>minkyu.kim@vlan24.com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5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dirty="0">
                          <a:latin typeface="맑은 고딕"/>
                          <a:cs typeface="맑은 고딕"/>
                        </a:rPr>
                        <a:t>부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" dirty="0">
                          <a:latin typeface="맑은 고딕"/>
                          <a:cs typeface="맑은 고딕"/>
                        </a:rPr>
                        <a:t>T</a:t>
                      </a:r>
                      <a:r>
                        <a:rPr sz="1000" spc="-10" dirty="0">
                          <a:latin typeface="맑은 고딕"/>
                          <a:cs typeface="맑은 고딕"/>
                        </a:rPr>
                        <a:t>e</a:t>
                      </a:r>
                      <a:r>
                        <a:rPr sz="1000" spc="5" dirty="0">
                          <a:latin typeface="맑은 고딕"/>
                          <a:cs typeface="맑은 고딕"/>
                        </a:rPr>
                        <a:t>c</a:t>
                      </a:r>
                      <a:r>
                        <a:rPr sz="1000" dirty="0">
                          <a:latin typeface="맑은 고딕"/>
                          <a:cs typeface="맑은 고딕"/>
                        </a:rPr>
                        <a:t>h</a:t>
                      </a:r>
                      <a:r>
                        <a:rPr sz="1000" spc="-100" dirty="0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맑은 고딕"/>
                          <a:cs typeface="맑은 고딕"/>
                        </a:rPr>
                        <a:t>팀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" dirty="0">
                          <a:latin typeface="맑은 고딕"/>
                          <a:cs typeface="맑은 고딕"/>
                        </a:rPr>
                        <a:t>010-8824-3461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u="sng" spc="-5" dirty="0">
                          <a:solidFill>
                            <a:srgbClr val="467885"/>
                          </a:solidFill>
                          <a:uFill>
                            <a:solidFill>
                              <a:srgbClr val="467885"/>
                            </a:solidFill>
                          </a:uFill>
                          <a:latin typeface="맑은 고딕"/>
                          <a:cs typeface="맑은 고딕"/>
                          <a:hlinkClick r:id="rId5"/>
                        </a:rPr>
                        <a:t>tech@vlan24.com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213550"/>
              </p:ext>
            </p:extLst>
          </p:nvPr>
        </p:nvGraphicFramePr>
        <p:xfrm>
          <a:off x="889200" y="2656800"/>
          <a:ext cx="5668010" cy="50100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9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3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5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1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E73BD"/>
                    </a:solidFill>
                  </a:tcPr>
                </a:tc>
                <a:tc>
                  <a:txBody>
                    <a:bodyPr/>
                    <a:lstStyle/>
                    <a:p>
                      <a:pPr marL="4337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V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M</a:t>
                      </a:r>
                      <a:r>
                        <a:rPr sz="1600" b="1" spc="-160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명</a:t>
                      </a:r>
                      <a:endParaRPr sz="1600" dirty="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E73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IP</a:t>
                      </a:r>
                      <a:endParaRPr sz="1600" dirty="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E73B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비고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E73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5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600" dirty="0">
                          <a:latin typeface="맑은 고딕"/>
                          <a:cs typeface="맑은 고딕"/>
                        </a:rPr>
                        <a:t>1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22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600" spc="-10" dirty="0">
                          <a:latin typeface="맑은 고딕"/>
                          <a:cs typeface="맑은 고딕"/>
                        </a:rPr>
                        <a:t>DB01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22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211.34.230.104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22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600" dirty="0">
                          <a:latin typeface="맑은 고딕"/>
                          <a:cs typeface="맑은 고딕"/>
                        </a:rPr>
                        <a:t>2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03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600" spc="-10" dirty="0">
                          <a:latin typeface="맑은 고딕"/>
                          <a:cs typeface="맑은 고딕"/>
                        </a:rPr>
                        <a:t>DB02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03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211.34.230.105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03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dirty="0">
                          <a:latin typeface="맑은 고딕"/>
                          <a:cs typeface="맑은 고딕"/>
                        </a:rPr>
                        <a:t>3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UpdateDB01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211.34.230.106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dirty="0">
                          <a:latin typeface="맑은 고딕"/>
                          <a:cs typeface="맑은 고딕"/>
                        </a:rPr>
                        <a:t>4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UpdateDB02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211.34.230.107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dirty="0">
                          <a:latin typeface="맑은 고딕"/>
                          <a:cs typeface="맑은 고딕"/>
                        </a:rPr>
                        <a:t>5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UpdateWeb01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211.34.230.101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1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dirty="0">
                          <a:latin typeface="맑은 고딕"/>
                          <a:cs typeface="맑은 고딕"/>
                        </a:rPr>
                        <a:t>6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UpdateWeb02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211.34.230.102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600" dirty="0">
                          <a:latin typeface="맑은 고딕"/>
                          <a:cs typeface="맑은 고딕"/>
                        </a:rPr>
                        <a:t>7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03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WebSite01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03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211.34.230.99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03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3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1600" dirty="0">
                          <a:latin typeface="맑은 고딕"/>
                          <a:cs typeface="맑은 고딕"/>
                        </a:rPr>
                        <a:t>8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222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WebSite02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222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211.34.230.100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222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dirty="0">
                          <a:latin typeface="맑은 고딕"/>
                          <a:cs typeface="맑은 고딕"/>
                        </a:rPr>
                        <a:t>9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TestWeb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211.34.230.97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1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spc="-10" dirty="0">
                          <a:latin typeface="맑은 고딕"/>
                          <a:cs typeface="맑은 고딕"/>
                        </a:rPr>
                        <a:t>10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TestDB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211.34.230.98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E73BD"/>
                    </a:solidFill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NAS</a:t>
                      </a:r>
                      <a:r>
                        <a:rPr sz="1600" b="1" spc="180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명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03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E73BD"/>
                    </a:solidFill>
                  </a:tcPr>
                </a:tc>
                <a:tc>
                  <a:txBody>
                    <a:bodyPr/>
                    <a:lstStyle/>
                    <a:p>
                      <a:pPr marL="69278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MountPath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03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E73BD"/>
                    </a:solidFill>
                  </a:tcPr>
                </a:tc>
                <a:tc>
                  <a:txBody>
                    <a:bodyPr/>
                    <a:lstStyle/>
                    <a:p>
                      <a:pPr marR="8699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용량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03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E73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사용량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03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E73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dirty="0">
                          <a:latin typeface="맑은 고딕"/>
                          <a:cs typeface="맑은 고딕"/>
                        </a:rPr>
                        <a:t>1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M2cnas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172.16.1.244/M2CNAS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0" algn="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2TB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1.36TB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81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dirty="0">
                          <a:latin typeface="맑은 고딕"/>
                          <a:cs typeface="맑은 고딕"/>
                        </a:rPr>
                        <a:t>2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TestGnas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172.16.1.244/TESTGNAS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1TB</a:t>
                      </a:r>
                      <a:endParaRPr sz="160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spc="-5" dirty="0">
                          <a:latin typeface="맑은 고딕"/>
                          <a:cs typeface="맑은 고딕"/>
                        </a:rPr>
                        <a:t>0.82TB</a:t>
                      </a:r>
                      <a:endParaRPr sz="1600" dirty="0">
                        <a:latin typeface="맑은 고딕"/>
                        <a:cs typeface="맑은 고딕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object 2">
            <a:extLst>
              <a:ext uri="{FF2B5EF4-FFF2-40B4-BE49-F238E27FC236}">
                <a16:creationId xmlns:a16="http://schemas.microsoft.com/office/drawing/2014/main" id="{CC8ED7B1-7965-9758-F695-1C0D32759611}"/>
              </a:ext>
            </a:extLst>
          </p:cNvPr>
          <p:cNvSpPr txBox="1"/>
          <p:nvPr/>
        </p:nvSpPr>
        <p:spPr>
          <a:xfrm>
            <a:off x="888288" y="1040637"/>
            <a:ext cx="4345305" cy="15818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735" indent="-280670">
              <a:lnSpc>
                <a:spcPct val="100000"/>
              </a:lnSpc>
              <a:spcBef>
                <a:spcPts val="95"/>
              </a:spcBef>
              <a:buAutoNum type="romanUcPeriod" startAt="2"/>
              <a:tabLst>
                <a:tab pos="293370" algn="l"/>
              </a:tabLst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1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15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15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520065" lvl="1" indent="-229235">
              <a:lnSpc>
                <a:spcPct val="100000"/>
              </a:lnSpc>
              <a:spcBef>
                <a:spcPts val="1645"/>
              </a:spcBef>
              <a:buAutoNum type="arabicPeriod"/>
              <a:tabLst>
                <a:tab pos="520700" algn="l"/>
              </a:tabLst>
            </a:pPr>
            <a:r>
              <a:rPr sz="1600" b="1" spc="-5" dirty="0">
                <a:latin typeface="맑은 고딕"/>
                <a:cs typeface="맑은 고딕"/>
              </a:rPr>
              <a:t>서버</a:t>
            </a:r>
            <a:r>
              <a:rPr sz="1600" b="1" spc="204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모니터링</a:t>
            </a:r>
            <a:r>
              <a:rPr sz="1600" b="1" spc="215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기간</a:t>
            </a:r>
            <a:endParaRPr sz="1600" dirty="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lang="en-US" sz="1950" dirty="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950" dirty="0">
              <a:latin typeface="맑은 고딕"/>
              <a:cs typeface="맑은 고딕"/>
            </a:endParaRPr>
          </a:p>
          <a:p>
            <a:pPr marL="520065" lvl="1" indent="-229235">
              <a:lnSpc>
                <a:spcPct val="100000"/>
              </a:lnSpc>
              <a:buAutoNum type="arabicPeriod" startAt="2"/>
              <a:tabLst>
                <a:tab pos="520700" algn="l"/>
              </a:tabLst>
            </a:pPr>
            <a:r>
              <a:rPr sz="1600" b="1" spc="-5" dirty="0">
                <a:latin typeface="맑은 고딕"/>
                <a:cs typeface="맑은 고딕"/>
              </a:rPr>
              <a:t>서버</a:t>
            </a:r>
            <a:r>
              <a:rPr sz="1600" b="1" spc="18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F1ABB8BB-BC9E-E243-599B-007B99049899}"/>
              </a:ext>
            </a:extLst>
          </p:cNvPr>
          <p:cNvSpPr txBox="1"/>
          <p:nvPr/>
        </p:nvSpPr>
        <p:spPr>
          <a:xfrm>
            <a:off x="889200" y="1831558"/>
            <a:ext cx="434530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0065">
              <a:lnSpc>
                <a:spcPct val="100000"/>
              </a:lnSpc>
              <a:spcBef>
                <a:spcPts val="840"/>
              </a:spcBef>
            </a:pPr>
            <a:r>
              <a:rPr lang="en-US" sz="1600" spc="-5" dirty="0">
                <a:latin typeface="맑은 고딕"/>
                <a:cs typeface="맑은 고딕"/>
              </a:rPr>
              <a:t>{{DATE_RANGE}}</a:t>
            </a:r>
            <a:endParaRPr sz="1600" dirty="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3023235" cy="14048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291465">
              <a:lnSpc>
                <a:spcPct val="100000"/>
              </a:lnSpc>
              <a:spcBef>
                <a:spcPts val="1645"/>
              </a:spcBef>
            </a:pPr>
            <a:r>
              <a:rPr sz="1600" spc="-5" dirty="0">
                <a:latin typeface="맑은 고딕"/>
                <a:cs typeface="맑은 고딕"/>
              </a:rPr>
              <a:t>3.</a:t>
            </a:r>
            <a:r>
              <a:rPr sz="1600" spc="-15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장비별</a:t>
            </a:r>
            <a:r>
              <a:rPr sz="1600" b="1" spc="204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사용현황</a:t>
            </a:r>
            <a:endParaRPr sz="1600" dirty="0">
              <a:latin typeface="맑은 고딕"/>
              <a:cs typeface="맑은 고딕"/>
            </a:endParaRPr>
          </a:p>
          <a:p>
            <a:pPr marL="520065">
              <a:lnSpc>
                <a:spcPct val="100000"/>
              </a:lnSpc>
              <a:spcBef>
                <a:spcPts val="765"/>
              </a:spcBef>
            </a:pPr>
            <a:r>
              <a:rPr sz="1300" b="1" spc="-5" dirty="0">
                <a:latin typeface="맑은 고딕"/>
                <a:cs typeface="맑은 고딕"/>
              </a:rPr>
              <a:t>3.1 </a:t>
            </a:r>
            <a:r>
              <a:rPr sz="1300" b="1" spc="-10" dirty="0">
                <a:latin typeface="맑은 고딕"/>
                <a:cs typeface="맑은 고딕"/>
              </a:rPr>
              <a:t>GIT3</a:t>
            </a:r>
            <a:r>
              <a:rPr sz="1300" b="1" spc="-5" dirty="0">
                <a:latin typeface="맑은 고딕"/>
                <a:cs typeface="맑은 고딕"/>
              </a:rPr>
              <a:t> DB01 (211.34.230.104)</a:t>
            </a:r>
            <a:endParaRPr sz="13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CPU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288" y="5819651"/>
            <a:ext cx="2799715" cy="312906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2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Memory</a:t>
            </a:r>
            <a:r>
              <a:rPr sz="1300" spc="160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7" name="WebDB01___CPU_94">
            <a:extLst>
              <a:ext uri="{FF2B5EF4-FFF2-40B4-BE49-F238E27FC236}">
                <a16:creationId xmlns:a16="http://schemas.microsoft.com/office/drawing/2014/main" id="{B45A99F0-D52F-F91C-7A0F-199147F7DE39}"/>
              </a:ext>
            </a:extLst>
          </p:cNvPr>
          <p:cNvSpPr/>
          <p:nvPr/>
        </p:nvSpPr>
        <p:spPr>
          <a:xfrm>
            <a:off x="900000" y="2791967"/>
            <a:ext cx="5690870" cy="26992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WebDB01___Memory_95">
            <a:extLst>
              <a:ext uri="{FF2B5EF4-FFF2-40B4-BE49-F238E27FC236}">
                <a16:creationId xmlns:a16="http://schemas.microsoft.com/office/drawing/2014/main" id="{8BBD99DB-8A19-862A-CDD3-7397CE13E193}"/>
              </a:ext>
            </a:extLst>
          </p:cNvPr>
          <p:cNvSpPr/>
          <p:nvPr/>
        </p:nvSpPr>
        <p:spPr>
          <a:xfrm>
            <a:off x="900430" y="6490842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74CC78-07EB-7009-1746-972FE138F2BB}"/>
              </a:ext>
            </a:extLst>
          </p:cNvPr>
          <p:cNvSpPr txBox="1"/>
          <p:nvPr/>
        </p:nvSpPr>
        <p:spPr>
          <a:xfrm>
            <a:off x="813000" y="247602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CPU {{WebDB01 : CPU_A}}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2200FC-DD5E-54C9-1A01-A7C9D1FD4D6F}"/>
              </a:ext>
            </a:extLst>
          </p:cNvPr>
          <p:cNvSpPr txBox="1"/>
          <p:nvPr/>
        </p:nvSpPr>
        <p:spPr>
          <a:xfrm>
            <a:off x="813600" y="62244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Memory {{WebDB01 : </a:t>
            </a:r>
            <a:r>
              <a:rPr lang="en-US" altLang="ko-KR" sz="1000" spc="-5" dirty="0" err="1">
                <a:latin typeface="맑은 고딕"/>
              </a:rPr>
              <a:t>Memory_C</a:t>
            </a:r>
            <a:r>
              <a:rPr lang="en-US" altLang="ko-KR" sz="1000" spc="-5" dirty="0">
                <a:latin typeface="맑은 고딕"/>
              </a:rPr>
              <a:t>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2528570" cy="650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dirty="0">
                <a:latin typeface="맑은 고딕"/>
                <a:cs typeface="맑은 고딕"/>
              </a:rPr>
              <a:t>C: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288" y="5182365"/>
            <a:ext cx="2539365" cy="312906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0" dirty="0">
                <a:latin typeface="맑은 고딕"/>
                <a:cs typeface="맑은 고딕"/>
              </a:rPr>
              <a:t> </a:t>
            </a:r>
            <a:r>
              <a:rPr sz="1300" spc="-10" dirty="0">
                <a:latin typeface="맑은 고딕"/>
                <a:cs typeface="맑은 고딕"/>
              </a:rPr>
              <a:t>D:</a:t>
            </a:r>
            <a:r>
              <a:rPr sz="1300" spc="160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6" name="WebDB01___D_98">
            <a:extLst>
              <a:ext uri="{FF2B5EF4-FFF2-40B4-BE49-F238E27FC236}">
                <a16:creationId xmlns:a16="http://schemas.microsoft.com/office/drawing/2014/main" id="{6CAA59A9-4B29-3262-7C4F-25E2A4CFB15A}"/>
              </a:ext>
            </a:extLst>
          </p:cNvPr>
          <p:cNvSpPr/>
          <p:nvPr/>
        </p:nvSpPr>
        <p:spPr>
          <a:xfrm>
            <a:off x="900430" y="5853810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WebDB01___C_18">
            <a:extLst>
              <a:ext uri="{FF2B5EF4-FFF2-40B4-BE49-F238E27FC236}">
                <a16:creationId xmlns:a16="http://schemas.microsoft.com/office/drawing/2014/main" id="{CF32E15B-A39A-44B6-6C9C-FBE81543D76B}"/>
              </a:ext>
            </a:extLst>
          </p:cNvPr>
          <p:cNvSpPr/>
          <p:nvPr/>
        </p:nvSpPr>
        <p:spPr>
          <a:xfrm>
            <a:off x="900430" y="2053208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74B254-4DD0-019C-8A5C-1BB294D200B7}"/>
              </a:ext>
            </a:extLst>
          </p:cNvPr>
          <p:cNvSpPr txBox="1"/>
          <p:nvPr/>
        </p:nvSpPr>
        <p:spPr>
          <a:xfrm>
            <a:off x="813000" y="17172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C: {{WebDB01 : C_C}}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F1BC3-B2AE-053C-0F3A-AD697350B30D}"/>
              </a:ext>
            </a:extLst>
          </p:cNvPr>
          <p:cNvSpPr txBox="1"/>
          <p:nvPr/>
        </p:nvSpPr>
        <p:spPr>
          <a:xfrm>
            <a:off x="813600" y="55224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D: {{WebDB01 : D_C}}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2414270" cy="650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E: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4" name="WebDB01___E_26">
            <a:extLst>
              <a:ext uri="{FF2B5EF4-FFF2-40B4-BE49-F238E27FC236}">
                <a16:creationId xmlns:a16="http://schemas.microsoft.com/office/drawing/2014/main" id="{AA73EDB2-7E01-5813-5EEF-2DF85E18E5F0}"/>
              </a:ext>
            </a:extLst>
          </p:cNvPr>
          <p:cNvSpPr/>
          <p:nvPr/>
        </p:nvSpPr>
        <p:spPr>
          <a:xfrm>
            <a:off x="900430" y="2053208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B5CFEA-E71C-706E-0E92-C6006D2F8C12}"/>
              </a:ext>
            </a:extLst>
          </p:cNvPr>
          <p:cNvSpPr txBox="1"/>
          <p:nvPr/>
        </p:nvSpPr>
        <p:spPr>
          <a:xfrm>
            <a:off x="813000" y="17172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E: {{WebDB01 : E_C}}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3077845" cy="10560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571500">
              <a:lnSpc>
                <a:spcPct val="100000"/>
              </a:lnSpc>
              <a:spcBef>
                <a:spcPts val="1560"/>
              </a:spcBef>
            </a:pPr>
            <a:r>
              <a:rPr sz="1300" b="1" spc="-5" dirty="0">
                <a:latin typeface="맑은 고딕"/>
                <a:cs typeface="맑은 고딕"/>
              </a:rPr>
              <a:t>3.2 </a:t>
            </a:r>
            <a:r>
              <a:rPr sz="1300" b="1" spc="-10" dirty="0">
                <a:latin typeface="맑은 고딕"/>
                <a:cs typeface="맑은 고딕"/>
              </a:rPr>
              <a:t>GIT3</a:t>
            </a:r>
            <a:r>
              <a:rPr sz="1300" b="1" dirty="0">
                <a:latin typeface="맑은 고딕"/>
                <a:cs typeface="맑은 고딕"/>
              </a:rPr>
              <a:t> </a:t>
            </a:r>
            <a:r>
              <a:rPr sz="1300" b="1" spc="-5" dirty="0">
                <a:latin typeface="맑은 고딕"/>
                <a:cs typeface="맑은 고딕"/>
              </a:rPr>
              <a:t>DB02</a:t>
            </a:r>
            <a:r>
              <a:rPr sz="1300" b="1" dirty="0">
                <a:latin typeface="맑은 고딕"/>
                <a:cs typeface="맑은 고딕"/>
              </a:rPr>
              <a:t> </a:t>
            </a:r>
            <a:r>
              <a:rPr sz="1300" b="1" spc="-5" dirty="0">
                <a:latin typeface="맑은 고딕"/>
                <a:cs typeface="맑은 고딕"/>
              </a:rPr>
              <a:t>(211.34.230.105)</a:t>
            </a:r>
            <a:endParaRPr sz="13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CPU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288" y="5465040"/>
            <a:ext cx="3037840" cy="315471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2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Memory</a:t>
            </a:r>
            <a:r>
              <a:rPr sz="1300" spc="160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6" name="WebDB02___Memory_46">
            <a:extLst>
              <a:ext uri="{FF2B5EF4-FFF2-40B4-BE49-F238E27FC236}">
                <a16:creationId xmlns:a16="http://schemas.microsoft.com/office/drawing/2014/main" id="{39B9846F-F0B7-796C-D177-B742C0837350}"/>
              </a:ext>
            </a:extLst>
          </p:cNvPr>
          <p:cNvSpPr/>
          <p:nvPr/>
        </p:nvSpPr>
        <p:spPr>
          <a:xfrm>
            <a:off x="900430" y="6139433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WebDB02___CPU_47">
            <a:extLst>
              <a:ext uri="{FF2B5EF4-FFF2-40B4-BE49-F238E27FC236}">
                <a16:creationId xmlns:a16="http://schemas.microsoft.com/office/drawing/2014/main" id="{AB1B90B5-9D15-E7B7-051F-D8C8D8C6AB64}"/>
              </a:ext>
            </a:extLst>
          </p:cNvPr>
          <p:cNvSpPr/>
          <p:nvPr/>
        </p:nvSpPr>
        <p:spPr>
          <a:xfrm>
            <a:off x="969010" y="2440431"/>
            <a:ext cx="5690870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5930C7-A992-2A72-A4F9-C36AAAB8CF4D}"/>
              </a:ext>
            </a:extLst>
          </p:cNvPr>
          <p:cNvSpPr txBox="1"/>
          <p:nvPr/>
        </p:nvSpPr>
        <p:spPr>
          <a:xfrm>
            <a:off x="813000" y="21240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CPU {{WebDB02 : CPU_A}}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F6EA0A-B6F0-6D91-C314-F8D5389C6425}"/>
              </a:ext>
            </a:extLst>
          </p:cNvPr>
          <p:cNvSpPr txBox="1"/>
          <p:nvPr/>
        </p:nvSpPr>
        <p:spPr>
          <a:xfrm>
            <a:off x="813600" y="58140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Memory {{WebDB02 : </a:t>
            </a:r>
            <a:r>
              <a:rPr lang="en-US" altLang="ko-KR" sz="1000" spc="-5" dirty="0" err="1">
                <a:latin typeface="맑은 고딕"/>
              </a:rPr>
              <a:t>Memory_C</a:t>
            </a:r>
            <a:r>
              <a:rPr lang="en-US" altLang="ko-KR" sz="1000" spc="-5" dirty="0">
                <a:latin typeface="맑은 고딕"/>
              </a:rPr>
              <a:t>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2429510" cy="650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dirty="0">
                <a:latin typeface="맑은 고딕"/>
                <a:cs typeface="맑은 고딕"/>
              </a:rPr>
              <a:t>C: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288" y="5182365"/>
            <a:ext cx="2522855" cy="55181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0" dirty="0">
                <a:latin typeface="맑은 고딕"/>
                <a:cs typeface="맑은 고딕"/>
              </a:rPr>
              <a:t> </a:t>
            </a:r>
            <a:r>
              <a:rPr sz="1300" spc="-10" dirty="0">
                <a:latin typeface="맑은 고딕"/>
                <a:cs typeface="맑은 고딕"/>
              </a:rPr>
              <a:t>D:</a:t>
            </a:r>
            <a:r>
              <a:rPr sz="1300" spc="160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사용량</a:t>
            </a:r>
            <a:endParaRPr sz="13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맑은 고딕"/>
                <a:cs typeface="맑은 고딕"/>
              </a:rPr>
              <a:t>이중화</a:t>
            </a:r>
            <a:r>
              <a:rPr sz="1000" spc="135" dirty="0">
                <a:latin typeface="맑은 고딕"/>
                <a:cs typeface="맑은 고딕"/>
              </a:rPr>
              <a:t> </a:t>
            </a:r>
            <a:r>
              <a:rPr sz="1000" spc="-5" dirty="0">
                <a:latin typeface="맑은 고딕"/>
                <a:cs typeface="맑은 고딕"/>
              </a:rPr>
              <a:t>솔루션에</a:t>
            </a:r>
            <a:r>
              <a:rPr sz="1000" spc="140" dirty="0">
                <a:latin typeface="맑은 고딕"/>
                <a:cs typeface="맑은 고딕"/>
              </a:rPr>
              <a:t> </a:t>
            </a:r>
            <a:r>
              <a:rPr sz="1000" spc="-5" dirty="0">
                <a:latin typeface="맑은 고딕"/>
                <a:cs typeface="맑은 고딕"/>
              </a:rPr>
              <a:t>의한</a:t>
            </a:r>
            <a:r>
              <a:rPr sz="1000" spc="145" dirty="0">
                <a:latin typeface="맑은 고딕"/>
                <a:cs typeface="맑은 고딕"/>
              </a:rPr>
              <a:t> </a:t>
            </a:r>
            <a:r>
              <a:rPr sz="1000" spc="-5" dirty="0">
                <a:latin typeface="맑은 고딕"/>
                <a:cs typeface="맑은 고딕"/>
              </a:rPr>
              <a:t>Inactive</a:t>
            </a:r>
            <a:r>
              <a:rPr sz="1000" spc="140" dirty="0">
                <a:latin typeface="맑은 고딕"/>
                <a:cs typeface="맑은 고딕"/>
              </a:rPr>
              <a:t> </a:t>
            </a:r>
            <a:r>
              <a:rPr sz="1000" spc="-5" dirty="0">
                <a:latin typeface="맑은 고딕"/>
                <a:cs typeface="맑은 고딕"/>
              </a:rPr>
              <a:t>상태입니다.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6" name="WebDB02___D_45">
            <a:extLst>
              <a:ext uri="{FF2B5EF4-FFF2-40B4-BE49-F238E27FC236}">
                <a16:creationId xmlns:a16="http://schemas.microsoft.com/office/drawing/2014/main" id="{82047C81-6537-1859-86E0-FE672868C05B}"/>
              </a:ext>
            </a:extLst>
          </p:cNvPr>
          <p:cNvSpPr/>
          <p:nvPr/>
        </p:nvSpPr>
        <p:spPr>
          <a:xfrm>
            <a:off x="900430" y="5853810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WebDB02___C_44">
            <a:extLst>
              <a:ext uri="{FF2B5EF4-FFF2-40B4-BE49-F238E27FC236}">
                <a16:creationId xmlns:a16="http://schemas.microsoft.com/office/drawing/2014/main" id="{DF69565A-7A43-C803-4CB6-56CDEABE2D8D}"/>
              </a:ext>
            </a:extLst>
          </p:cNvPr>
          <p:cNvSpPr/>
          <p:nvPr/>
        </p:nvSpPr>
        <p:spPr>
          <a:xfrm>
            <a:off x="900430" y="2053208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E950C0-7B4F-4BAF-0B15-9A5DEFC8C1CB}"/>
              </a:ext>
            </a:extLst>
          </p:cNvPr>
          <p:cNvSpPr txBox="1"/>
          <p:nvPr/>
        </p:nvSpPr>
        <p:spPr>
          <a:xfrm>
            <a:off x="813000" y="17172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C: {{WebDB02 : C_C}}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2513330" cy="650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E: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4" name="WebDB02___E_43">
            <a:extLst>
              <a:ext uri="{FF2B5EF4-FFF2-40B4-BE49-F238E27FC236}">
                <a16:creationId xmlns:a16="http://schemas.microsoft.com/office/drawing/2014/main" id="{CF4EE9A1-A560-CEC9-4E7C-A46BE1E2B4E7}"/>
              </a:ext>
            </a:extLst>
          </p:cNvPr>
          <p:cNvSpPr/>
          <p:nvPr/>
        </p:nvSpPr>
        <p:spPr>
          <a:xfrm>
            <a:off x="900430" y="2053208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55E22-23B8-DC09-E4FF-3640B2A6C14B}"/>
              </a:ext>
            </a:extLst>
          </p:cNvPr>
          <p:cNvSpPr txBox="1"/>
          <p:nvPr/>
        </p:nvSpPr>
        <p:spPr>
          <a:xfrm>
            <a:off x="813000" y="17172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E: {{WebDB02 : E_C}}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3649979" cy="10560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571500">
              <a:lnSpc>
                <a:spcPct val="100000"/>
              </a:lnSpc>
              <a:spcBef>
                <a:spcPts val="1560"/>
              </a:spcBef>
            </a:pPr>
            <a:r>
              <a:rPr sz="1300" b="1" spc="-5" dirty="0">
                <a:latin typeface="맑은 고딕"/>
                <a:cs typeface="맑은 고딕"/>
              </a:rPr>
              <a:t>3.3</a:t>
            </a:r>
            <a:r>
              <a:rPr sz="1300" b="1" dirty="0">
                <a:latin typeface="맑은 고딕"/>
                <a:cs typeface="맑은 고딕"/>
              </a:rPr>
              <a:t> </a:t>
            </a:r>
            <a:r>
              <a:rPr sz="1300" b="1" spc="-10" dirty="0">
                <a:latin typeface="맑은 고딕"/>
                <a:cs typeface="맑은 고딕"/>
              </a:rPr>
              <a:t>GIT3</a:t>
            </a:r>
            <a:r>
              <a:rPr sz="1300" b="1" spc="5" dirty="0">
                <a:latin typeface="맑은 고딕"/>
                <a:cs typeface="맑은 고딕"/>
              </a:rPr>
              <a:t> </a:t>
            </a:r>
            <a:r>
              <a:rPr sz="1300" b="1" spc="-5" dirty="0">
                <a:latin typeface="맑은 고딕"/>
                <a:cs typeface="맑은 고딕"/>
              </a:rPr>
              <a:t>UpdateDB01</a:t>
            </a:r>
            <a:r>
              <a:rPr sz="1300" b="1" dirty="0">
                <a:latin typeface="맑은 고딕"/>
                <a:cs typeface="맑은 고딕"/>
              </a:rPr>
              <a:t> </a:t>
            </a:r>
            <a:r>
              <a:rPr sz="1300" b="1" spc="-5" dirty="0">
                <a:latin typeface="맑은 고딕"/>
                <a:cs typeface="맑은 고딕"/>
              </a:rPr>
              <a:t>(211.34.230.106)</a:t>
            </a:r>
            <a:endParaRPr sz="13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CPU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288" y="5465040"/>
            <a:ext cx="3037840" cy="315471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2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Memory</a:t>
            </a:r>
            <a:r>
              <a:rPr sz="1300" spc="160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6" name="UpdateDB01___Memory_67">
            <a:extLst>
              <a:ext uri="{FF2B5EF4-FFF2-40B4-BE49-F238E27FC236}">
                <a16:creationId xmlns:a16="http://schemas.microsoft.com/office/drawing/2014/main" id="{34BF77C6-187F-4095-7610-D184B79FCC05}"/>
              </a:ext>
            </a:extLst>
          </p:cNvPr>
          <p:cNvSpPr/>
          <p:nvPr/>
        </p:nvSpPr>
        <p:spPr>
          <a:xfrm>
            <a:off x="900430" y="6139433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UpdateDB01___CPU_65">
            <a:extLst>
              <a:ext uri="{FF2B5EF4-FFF2-40B4-BE49-F238E27FC236}">
                <a16:creationId xmlns:a16="http://schemas.microsoft.com/office/drawing/2014/main" id="{9BC04EFE-2E9B-B0B2-0C33-F7ECB545B880}"/>
              </a:ext>
            </a:extLst>
          </p:cNvPr>
          <p:cNvSpPr/>
          <p:nvPr/>
        </p:nvSpPr>
        <p:spPr>
          <a:xfrm>
            <a:off x="900000" y="2440431"/>
            <a:ext cx="5690870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0D32E5-009A-04CF-7089-F02F2459F68B}"/>
              </a:ext>
            </a:extLst>
          </p:cNvPr>
          <p:cNvSpPr txBox="1"/>
          <p:nvPr/>
        </p:nvSpPr>
        <p:spPr>
          <a:xfrm>
            <a:off x="813000" y="21240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CPU {{UpdateDB01 : CPU_A}}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7103F5-12EA-2974-C2BE-7F4C7A190963}"/>
              </a:ext>
            </a:extLst>
          </p:cNvPr>
          <p:cNvSpPr txBox="1"/>
          <p:nvPr/>
        </p:nvSpPr>
        <p:spPr>
          <a:xfrm>
            <a:off x="813000" y="58140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Memory {{UpdateDB01 : </a:t>
            </a:r>
            <a:r>
              <a:rPr lang="en-US" altLang="ko-KR" sz="1000" spc="-5" dirty="0" err="1">
                <a:latin typeface="맑은 고딕"/>
              </a:rPr>
              <a:t>Memory_C</a:t>
            </a:r>
            <a:r>
              <a:rPr lang="en-US" altLang="ko-KR" sz="1000" spc="-5" dirty="0">
                <a:latin typeface="맑은 고딕"/>
              </a:rPr>
              <a:t>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2667635" cy="650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dirty="0">
                <a:latin typeface="맑은 고딕"/>
                <a:cs typeface="맑은 고딕"/>
              </a:rPr>
              <a:t>C: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288" y="5182365"/>
            <a:ext cx="2522855" cy="55181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0" dirty="0">
                <a:latin typeface="맑은 고딕"/>
                <a:cs typeface="맑은 고딕"/>
              </a:rPr>
              <a:t> </a:t>
            </a:r>
            <a:r>
              <a:rPr sz="1300" spc="-10" dirty="0">
                <a:latin typeface="맑은 고딕"/>
                <a:cs typeface="맑은 고딕"/>
              </a:rPr>
              <a:t>D:</a:t>
            </a:r>
            <a:r>
              <a:rPr sz="1300" spc="160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사용량</a:t>
            </a:r>
            <a:endParaRPr sz="13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맑은 고딕"/>
                <a:cs typeface="맑은 고딕"/>
              </a:rPr>
              <a:t>이중화</a:t>
            </a:r>
            <a:r>
              <a:rPr sz="1000" spc="135" dirty="0">
                <a:latin typeface="맑은 고딕"/>
                <a:cs typeface="맑은 고딕"/>
              </a:rPr>
              <a:t> </a:t>
            </a:r>
            <a:r>
              <a:rPr sz="1000" spc="-5" dirty="0">
                <a:latin typeface="맑은 고딕"/>
                <a:cs typeface="맑은 고딕"/>
              </a:rPr>
              <a:t>솔루션에</a:t>
            </a:r>
            <a:r>
              <a:rPr sz="1000" spc="140" dirty="0">
                <a:latin typeface="맑은 고딕"/>
                <a:cs typeface="맑은 고딕"/>
              </a:rPr>
              <a:t> </a:t>
            </a:r>
            <a:r>
              <a:rPr sz="1000" spc="-5" dirty="0">
                <a:latin typeface="맑은 고딕"/>
                <a:cs typeface="맑은 고딕"/>
              </a:rPr>
              <a:t>의한</a:t>
            </a:r>
            <a:r>
              <a:rPr sz="1000" spc="145" dirty="0">
                <a:latin typeface="맑은 고딕"/>
                <a:cs typeface="맑은 고딕"/>
              </a:rPr>
              <a:t> </a:t>
            </a:r>
            <a:r>
              <a:rPr sz="1000" spc="-5" dirty="0">
                <a:latin typeface="맑은 고딕"/>
                <a:cs typeface="맑은 고딕"/>
              </a:rPr>
              <a:t>Inactive</a:t>
            </a:r>
            <a:r>
              <a:rPr sz="1000" spc="140" dirty="0">
                <a:latin typeface="맑은 고딕"/>
                <a:cs typeface="맑은 고딕"/>
              </a:rPr>
              <a:t> </a:t>
            </a:r>
            <a:r>
              <a:rPr sz="1000" spc="-5" dirty="0">
                <a:latin typeface="맑은 고딕"/>
                <a:cs typeface="맑은 고딕"/>
              </a:rPr>
              <a:t>상태입니다.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6" name="UpdateDB01___D_68">
            <a:extLst>
              <a:ext uri="{FF2B5EF4-FFF2-40B4-BE49-F238E27FC236}">
                <a16:creationId xmlns:a16="http://schemas.microsoft.com/office/drawing/2014/main" id="{47BE11BB-CCA3-3270-47AD-B2EE730618E9}"/>
              </a:ext>
            </a:extLst>
          </p:cNvPr>
          <p:cNvSpPr/>
          <p:nvPr/>
        </p:nvSpPr>
        <p:spPr>
          <a:xfrm>
            <a:off x="900430" y="5853810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UpdateDB01___C_66">
            <a:extLst>
              <a:ext uri="{FF2B5EF4-FFF2-40B4-BE49-F238E27FC236}">
                <a16:creationId xmlns:a16="http://schemas.microsoft.com/office/drawing/2014/main" id="{FB82ADBD-6623-2030-19E2-1E9A8EE07028}"/>
              </a:ext>
            </a:extLst>
          </p:cNvPr>
          <p:cNvSpPr/>
          <p:nvPr/>
        </p:nvSpPr>
        <p:spPr>
          <a:xfrm>
            <a:off x="900430" y="2053208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F15206-5369-5A47-9443-0679E2CC63D8}"/>
              </a:ext>
            </a:extLst>
          </p:cNvPr>
          <p:cNvSpPr txBox="1"/>
          <p:nvPr/>
        </p:nvSpPr>
        <p:spPr>
          <a:xfrm>
            <a:off x="813000" y="17172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C: {{UpdateDB01 : C_C}}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2513330" cy="650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E: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4" name="UpdateDB01___E_69">
            <a:extLst>
              <a:ext uri="{FF2B5EF4-FFF2-40B4-BE49-F238E27FC236}">
                <a16:creationId xmlns:a16="http://schemas.microsoft.com/office/drawing/2014/main" id="{9559AB09-0E12-62BA-1CE3-935C13004A10}"/>
              </a:ext>
            </a:extLst>
          </p:cNvPr>
          <p:cNvSpPr/>
          <p:nvPr/>
        </p:nvSpPr>
        <p:spPr>
          <a:xfrm>
            <a:off x="900430" y="2053208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B1333-F1AC-8C31-DF03-08CBD593D15C}"/>
              </a:ext>
            </a:extLst>
          </p:cNvPr>
          <p:cNvSpPr txBox="1"/>
          <p:nvPr/>
        </p:nvSpPr>
        <p:spPr>
          <a:xfrm>
            <a:off x="813000" y="17172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E: {{UpdateDB01 : E_C}}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3649979" cy="10560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571500">
              <a:lnSpc>
                <a:spcPct val="100000"/>
              </a:lnSpc>
              <a:spcBef>
                <a:spcPts val="1560"/>
              </a:spcBef>
            </a:pPr>
            <a:r>
              <a:rPr sz="1300" b="1" spc="-5" dirty="0">
                <a:latin typeface="맑은 고딕"/>
                <a:cs typeface="맑은 고딕"/>
              </a:rPr>
              <a:t>3.4</a:t>
            </a:r>
            <a:r>
              <a:rPr sz="1300" b="1" dirty="0">
                <a:latin typeface="맑은 고딕"/>
                <a:cs typeface="맑은 고딕"/>
              </a:rPr>
              <a:t> </a:t>
            </a:r>
            <a:r>
              <a:rPr sz="1300" b="1" spc="-10" dirty="0">
                <a:latin typeface="맑은 고딕"/>
                <a:cs typeface="맑은 고딕"/>
              </a:rPr>
              <a:t>GIT3</a:t>
            </a:r>
            <a:r>
              <a:rPr sz="1300" b="1" spc="5" dirty="0">
                <a:latin typeface="맑은 고딕"/>
                <a:cs typeface="맑은 고딕"/>
              </a:rPr>
              <a:t> </a:t>
            </a:r>
            <a:r>
              <a:rPr sz="1300" b="1" spc="-5" dirty="0">
                <a:latin typeface="맑은 고딕"/>
                <a:cs typeface="맑은 고딕"/>
              </a:rPr>
              <a:t>UpdateDB02</a:t>
            </a:r>
            <a:r>
              <a:rPr sz="1300" b="1" dirty="0">
                <a:latin typeface="맑은 고딕"/>
                <a:cs typeface="맑은 고딕"/>
              </a:rPr>
              <a:t> </a:t>
            </a:r>
            <a:r>
              <a:rPr sz="1300" b="1" spc="-5" dirty="0">
                <a:latin typeface="맑은 고딕"/>
                <a:cs typeface="맑은 고딕"/>
              </a:rPr>
              <a:t>(211.34.230.107)</a:t>
            </a:r>
            <a:endParaRPr sz="13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CPU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288" y="5465040"/>
            <a:ext cx="3037840" cy="315471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2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Memory</a:t>
            </a:r>
            <a:r>
              <a:rPr sz="1300" spc="160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6" name="UpdateDB02___Memory_61">
            <a:extLst>
              <a:ext uri="{FF2B5EF4-FFF2-40B4-BE49-F238E27FC236}">
                <a16:creationId xmlns:a16="http://schemas.microsoft.com/office/drawing/2014/main" id="{08FB1AE2-7825-BE89-DD9F-E3C2C108601E}"/>
              </a:ext>
            </a:extLst>
          </p:cNvPr>
          <p:cNvSpPr/>
          <p:nvPr/>
        </p:nvSpPr>
        <p:spPr>
          <a:xfrm>
            <a:off x="900430" y="6139433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UpdateDB02___CPU_60">
            <a:extLst>
              <a:ext uri="{FF2B5EF4-FFF2-40B4-BE49-F238E27FC236}">
                <a16:creationId xmlns:a16="http://schemas.microsoft.com/office/drawing/2014/main" id="{2F973CF8-E77E-317D-8BB0-ECB7B22AAABF}"/>
              </a:ext>
            </a:extLst>
          </p:cNvPr>
          <p:cNvSpPr/>
          <p:nvPr/>
        </p:nvSpPr>
        <p:spPr>
          <a:xfrm>
            <a:off x="900000" y="2440431"/>
            <a:ext cx="5690870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BC00C0-A594-B067-2C04-B977A34540A4}"/>
              </a:ext>
            </a:extLst>
          </p:cNvPr>
          <p:cNvSpPr txBox="1"/>
          <p:nvPr/>
        </p:nvSpPr>
        <p:spPr>
          <a:xfrm>
            <a:off x="813000" y="21240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CPU {{UpdateDB02 : CPU_A}}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FC780-229E-D7FC-33EC-FEE40A6F8E75}"/>
              </a:ext>
            </a:extLst>
          </p:cNvPr>
          <p:cNvSpPr txBox="1"/>
          <p:nvPr/>
        </p:nvSpPr>
        <p:spPr>
          <a:xfrm>
            <a:off x="813000" y="58140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Memory {{UpdateDB02 : </a:t>
            </a:r>
            <a:r>
              <a:rPr lang="en-US" altLang="ko-KR" sz="1000" spc="-5" dirty="0" err="1">
                <a:latin typeface="맑은 고딕"/>
              </a:rPr>
              <a:t>Memory_C</a:t>
            </a:r>
            <a:r>
              <a:rPr lang="en-US" altLang="ko-KR" sz="1000" spc="-5" dirty="0">
                <a:latin typeface="맑은 고딕"/>
              </a:rPr>
              <a:t>}}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2667635" cy="650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dirty="0">
                <a:latin typeface="맑은 고딕"/>
                <a:cs typeface="맑은 고딕"/>
              </a:rPr>
              <a:t>C: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288" y="5182365"/>
            <a:ext cx="2539365" cy="312906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0" dirty="0">
                <a:latin typeface="맑은 고딕"/>
                <a:cs typeface="맑은 고딕"/>
              </a:rPr>
              <a:t> </a:t>
            </a:r>
            <a:r>
              <a:rPr sz="1300" spc="-10" dirty="0">
                <a:latin typeface="맑은 고딕"/>
                <a:cs typeface="맑은 고딕"/>
              </a:rPr>
              <a:t>D:</a:t>
            </a:r>
            <a:r>
              <a:rPr sz="1300" spc="160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6" name="UpdateDB02___D_63">
            <a:extLst>
              <a:ext uri="{FF2B5EF4-FFF2-40B4-BE49-F238E27FC236}">
                <a16:creationId xmlns:a16="http://schemas.microsoft.com/office/drawing/2014/main" id="{F6178640-D52B-AB11-D0B6-B3A310B3CDCD}"/>
              </a:ext>
            </a:extLst>
          </p:cNvPr>
          <p:cNvSpPr/>
          <p:nvPr/>
        </p:nvSpPr>
        <p:spPr>
          <a:xfrm>
            <a:off x="900430" y="5853810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UpdateDB02___C_62">
            <a:extLst>
              <a:ext uri="{FF2B5EF4-FFF2-40B4-BE49-F238E27FC236}">
                <a16:creationId xmlns:a16="http://schemas.microsoft.com/office/drawing/2014/main" id="{FCCE913E-96A9-6F50-2B86-B3B5EA5B6CB5}"/>
              </a:ext>
            </a:extLst>
          </p:cNvPr>
          <p:cNvSpPr/>
          <p:nvPr/>
        </p:nvSpPr>
        <p:spPr>
          <a:xfrm>
            <a:off x="900430" y="2053208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8AB062-CCA0-4E0F-FDAB-60EDD61CF20F}"/>
              </a:ext>
            </a:extLst>
          </p:cNvPr>
          <p:cNvSpPr txBox="1"/>
          <p:nvPr/>
        </p:nvSpPr>
        <p:spPr>
          <a:xfrm>
            <a:off x="813000" y="17172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C: {{UpdateDB02 : C_C}}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B82427-6306-B049-37D8-A373ADD8EF38}"/>
              </a:ext>
            </a:extLst>
          </p:cNvPr>
          <p:cNvSpPr txBox="1"/>
          <p:nvPr/>
        </p:nvSpPr>
        <p:spPr>
          <a:xfrm>
            <a:off x="813600" y="55224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D {{UpdateDB02 : D_C}}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2652395" cy="650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E: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4" name="UpdateDB02___E_64">
            <a:extLst>
              <a:ext uri="{FF2B5EF4-FFF2-40B4-BE49-F238E27FC236}">
                <a16:creationId xmlns:a16="http://schemas.microsoft.com/office/drawing/2014/main" id="{66310412-614E-A6BA-6F99-EFA1CEAD6DC1}"/>
              </a:ext>
            </a:extLst>
          </p:cNvPr>
          <p:cNvSpPr/>
          <p:nvPr/>
        </p:nvSpPr>
        <p:spPr>
          <a:xfrm>
            <a:off x="900430" y="2053208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C1183F-0C6E-9621-E0E8-1FB527C782D6}"/>
              </a:ext>
            </a:extLst>
          </p:cNvPr>
          <p:cNvSpPr txBox="1"/>
          <p:nvPr/>
        </p:nvSpPr>
        <p:spPr>
          <a:xfrm>
            <a:off x="813000" y="17172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E: {{UpdateDB02 : E_C}}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3780790" cy="10560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571500">
              <a:lnSpc>
                <a:spcPct val="100000"/>
              </a:lnSpc>
              <a:spcBef>
                <a:spcPts val="1560"/>
              </a:spcBef>
            </a:pPr>
            <a:r>
              <a:rPr sz="1300" b="1" spc="-5" dirty="0">
                <a:latin typeface="맑은 고딕"/>
                <a:cs typeface="맑은 고딕"/>
              </a:rPr>
              <a:t>3.5</a:t>
            </a:r>
            <a:r>
              <a:rPr sz="1300" b="1" dirty="0">
                <a:latin typeface="맑은 고딕"/>
                <a:cs typeface="맑은 고딕"/>
              </a:rPr>
              <a:t> </a:t>
            </a:r>
            <a:r>
              <a:rPr sz="1300" b="1" spc="-10" dirty="0">
                <a:latin typeface="맑은 고딕"/>
                <a:cs typeface="맑은 고딕"/>
              </a:rPr>
              <a:t>GIT3</a:t>
            </a:r>
            <a:r>
              <a:rPr sz="1300" b="1" spc="5" dirty="0">
                <a:latin typeface="맑은 고딕"/>
                <a:cs typeface="맑은 고딕"/>
              </a:rPr>
              <a:t> </a:t>
            </a:r>
            <a:r>
              <a:rPr sz="1300" b="1" spc="-5" dirty="0">
                <a:latin typeface="맑은 고딕"/>
                <a:cs typeface="맑은 고딕"/>
              </a:rPr>
              <a:t>UpdateWeb01</a:t>
            </a:r>
            <a:r>
              <a:rPr sz="1300" b="1" spc="5" dirty="0">
                <a:latin typeface="맑은 고딕"/>
                <a:cs typeface="맑은 고딕"/>
              </a:rPr>
              <a:t> </a:t>
            </a:r>
            <a:r>
              <a:rPr sz="1300" b="1" spc="-5" dirty="0">
                <a:latin typeface="맑은 고딕"/>
                <a:cs typeface="맑은 고딕"/>
              </a:rPr>
              <a:t>(211.34.230.101)</a:t>
            </a:r>
            <a:endParaRPr sz="13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CPU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288" y="5465040"/>
            <a:ext cx="3037840" cy="315471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2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Memory</a:t>
            </a:r>
            <a:r>
              <a:rPr sz="1300" spc="160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6" name="UpdateWeb01___Memory_75">
            <a:extLst>
              <a:ext uri="{FF2B5EF4-FFF2-40B4-BE49-F238E27FC236}">
                <a16:creationId xmlns:a16="http://schemas.microsoft.com/office/drawing/2014/main" id="{2EBA6294-4715-5D40-E84B-D545E438CADD}"/>
              </a:ext>
            </a:extLst>
          </p:cNvPr>
          <p:cNvSpPr/>
          <p:nvPr/>
        </p:nvSpPr>
        <p:spPr>
          <a:xfrm>
            <a:off x="900430" y="6139433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UpdateWeb01___CPU_76">
            <a:extLst>
              <a:ext uri="{FF2B5EF4-FFF2-40B4-BE49-F238E27FC236}">
                <a16:creationId xmlns:a16="http://schemas.microsoft.com/office/drawing/2014/main" id="{B46D553B-E7FF-733D-9FA7-E47561774B7F}"/>
              </a:ext>
            </a:extLst>
          </p:cNvPr>
          <p:cNvSpPr/>
          <p:nvPr/>
        </p:nvSpPr>
        <p:spPr>
          <a:xfrm>
            <a:off x="900000" y="2440431"/>
            <a:ext cx="5690870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B4AED4-43B3-8D74-56B1-CD50D31354A3}"/>
              </a:ext>
            </a:extLst>
          </p:cNvPr>
          <p:cNvSpPr txBox="1"/>
          <p:nvPr/>
        </p:nvSpPr>
        <p:spPr>
          <a:xfrm>
            <a:off x="813000" y="21240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CPU {{UpdateWeb01 : CPU_A}}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9DEA68-6316-2108-4609-59257DB5AD2A}"/>
              </a:ext>
            </a:extLst>
          </p:cNvPr>
          <p:cNvSpPr txBox="1"/>
          <p:nvPr/>
        </p:nvSpPr>
        <p:spPr>
          <a:xfrm>
            <a:off x="813000" y="58140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Memory {{UpdateWeb01 : </a:t>
            </a:r>
            <a:r>
              <a:rPr lang="en-US" altLang="ko-KR" sz="1000" spc="-5" dirty="0" err="1">
                <a:latin typeface="맑은 고딕"/>
              </a:rPr>
              <a:t>Memory_C</a:t>
            </a:r>
            <a:r>
              <a:rPr lang="en-US" altLang="ko-KR" sz="1000" spc="-5" dirty="0">
                <a:latin typeface="맑은 고딕"/>
              </a:rPr>
              <a:t>}}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2667635" cy="650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dirty="0">
                <a:latin typeface="맑은 고딕"/>
                <a:cs typeface="맑은 고딕"/>
              </a:rPr>
              <a:t>C: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288" y="5182365"/>
            <a:ext cx="2677795" cy="312906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0" dirty="0">
                <a:latin typeface="맑은 고딕"/>
                <a:cs typeface="맑은 고딕"/>
              </a:rPr>
              <a:t> </a:t>
            </a:r>
            <a:r>
              <a:rPr sz="1300" spc="-10" dirty="0">
                <a:latin typeface="맑은 고딕"/>
                <a:cs typeface="맑은 고딕"/>
              </a:rPr>
              <a:t>D:</a:t>
            </a:r>
            <a:r>
              <a:rPr sz="1300" spc="160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6" name="UpdateWeb01___D_79">
            <a:extLst>
              <a:ext uri="{FF2B5EF4-FFF2-40B4-BE49-F238E27FC236}">
                <a16:creationId xmlns:a16="http://schemas.microsoft.com/office/drawing/2014/main" id="{B71332E2-190A-3241-F93F-147B6DBE13C9}"/>
              </a:ext>
            </a:extLst>
          </p:cNvPr>
          <p:cNvSpPr/>
          <p:nvPr/>
        </p:nvSpPr>
        <p:spPr>
          <a:xfrm>
            <a:off x="900430" y="5853810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UpdateWeb01___C_77">
            <a:extLst>
              <a:ext uri="{FF2B5EF4-FFF2-40B4-BE49-F238E27FC236}">
                <a16:creationId xmlns:a16="http://schemas.microsoft.com/office/drawing/2014/main" id="{F673971E-0A33-BA1F-804F-90B1C635AA69}"/>
              </a:ext>
            </a:extLst>
          </p:cNvPr>
          <p:cNvSpPr/>
          <p:nvPr/>
        </p:nvSpPr>
        <p:spPr>
          <a:xfrm>
            <a:off x="900430" y="2053208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A4D0CC-843D-5C78-9CAF-1A33F5520257}"/>
              </a:ext>
            </a:extLst>
          </p:cNvPr>
          <p:cNvSpPr txBox="1"/>
          <p:nvPr/>
        </p:nvSpPr>
        <p:spPr>
          <a:xfrm>
            <a:off x="813000" y="17172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C: {{UpdateWeb01 : C_C}}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7393E-191F-8188-8312-25EBA69E7058}"/>
              </a:ext>
            </a:extLst>
          </p:cNvPr>
          <p:cNvSpPr txBox="1"/>
          <p:nvPr/>
        </p:nvSpPr>
        <p:spPr>
          <a:xfrm>
            <a:off x="813600" y="55224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D: {{UpdateWeb01 : D_C}}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2652395" cy="650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E: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4" name="UpdateWeb01___E_78">
            <a:extLst>
              <a:ext uri="{FF2B5EF4-FFF2-40B4-BE49-F238E27FC236}">
                <a16:creationId xmlns:a16="http://schemas.microsoft.com/office/drawing/2014/main" id="{850BCEB0-39BE-8530-2A99-1B640EA6AAA7}"/>
              </a:ext>
            </a:extLst>
          </p:cNvPr>
          <p:cNvSpPr/>
          <p:nvPr/>
        </p:nvSpPr>
        <p:spPr>
          <a:xfrm>
            <a:off x="900430" y="2053208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EE7D85-C22F-7B10-162E-B4E320717E16}"/>
              </a:ext>
            </a:extLst>
          </p:cNvPr>
          <p:cNvSpPr txBox="1"/>
          <p:nvPr/>
        </p:nvSpPr>
        <p:spPr>
          <a:xfrm>
            <a:off x="813000" y="17172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E: {{UpdateWeb01 : E_C}}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3780790" cy="10560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571500">
              <a:lnSpc>
                <a:spcPct val="100000"/>
              </a:lnSpc>
              <a:spcBef>
                <a:spcPts val="1560"/>
              </a:spcBef>
            </a:pPr>
            <a:r>
              <a:rPr sz="1300" b="1" spc="-5" dirty="0">
                <a:latin typeface="맑은 고딕"/>
                <a:cs typeface="맑은 고딕"/>
              </a:rPr>
              <a:t>3.6</a:t>
            </a:r>
            <a:r>
              <a:rPr sz="1300" b="1" dirty="0">
                <a:latin typeface="맑은 고딕"/>
                <a:cs typeface="맑은 고딕"/>
              </a:rPr>
              <a:t> </a:t>
            </a:r>
            <a:r>
              <a:rPr sz="1300" b="1" spc="-10" dirty="0">
                <a:latin typeface="맑은 고딕"/>
                <a:cs typeface="맑은 고딕"/>
              </a:rPr>
              <a:t>GIT3</a:t>
            </a:r>
            <a:r>
              <a:rPr sz="1300" b="1" spc="5" dirty="0">
                <a:latin typeface="맑은 고딕"/>
                <a:cs typeface="맑은 고딕"/>
              </a:rPr>
              <a:t> </a:t>
            </a:r>
            <a:r>
              <a:rPr sz="1300" b="1" spc="-5" dirty="0">
                <a:latin typeface="맑은 고딕"/>
                <a:cs typeface="맑은 고딕"/>
              </a:rPr>
              <a:t>UpdateWeb02</a:t>
            </a:r>
            <a:r>
              <a:rPr sz="1300" b="1" spc="5" dirty="0">
                <a:latin typeface="맑은 고딕"/>
                <a:cs typeface="맑은 고딕"/>
              </a:rPr>
              <a:t> </a:t>
            </a:r>
            <a:r>
              <a:rPr sz="1300" b="1" spc="-5" dirty="0">
                <a:latin typeface="맑은 고딕"/>
                <a:cs typeface="맑은 고딕"/>
              </a:rPr>
              <a:t>(211.34.230.102)</a:t>
            </a:r>
            <a:endParaRPr sz="13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CPU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288" y="5465040"/>
            <a:ext cx="2967355" cy="315471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2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Memory</a:t>
            </a:r>
            <a:r>
              <a:rPr sz="1300" spc="160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6" name="UpdateWeb02___Memory_70">
            <a:extLst>
              <a:ext uri="{FF2B5EF4-FFF2-40B4-BE49-F238E27FC236}">
                <a16:creationId xmlns:a16="http://schemas.microsoft.com/office/drawing/2014/main" id="{D2CC5539-64BB-C5C7-6334-896F42138A4B}"/>
              </a:ext>
            </a:extLst>
          </p:cNvPr>
          <p:cNvSpPr/>
          <p:nvPr/>
        </p:nvSpPr>
        <p:spPr>
          <a:xfrm>
            <a:off x="900430" y="6139433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UpdateWeb02___CPU_71">
            <a:extLst>
              <a:ext uri="{FF2B5EF4-FFF2-40B4-BE49-F238E27FC236}">
                <a16:creationId xmlns:a16="http://schemas.microsoft.com/office/drawing/2014/main" id="{AA8C36CC-9DC8-6062-3641-FC6FA57CBA53}"/>
              </a:ext>
            </a:extLst>
          </p:cNvPr>
          <p:cNvSpPr/>
          <p:nvPr/>
        </p:nvSpPr>
        <p:spPr>
          <a:xfrm>
            <a:off x="900000" y="2440431"/>
            <a:ext cx="5690870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9B34A4-2576-1418-90B1-BF347918F5EE}"/>
              </a:ext>
            </a:extLst>
          </p:cNvPr>
          <p:cNvSpPr txBox="1"/>
          <p:nvPr/>
        </p:nvSpPr>
        <p:spPr>
          <a:xfrm>
            <a:off x="813000" y="21240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CPU {{UpdateWeb02 : CPU_A}}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AA311-C6D0-3B73-B451-A7A9F3E712AD}"/>
              </a:ext>
            </a:extLst>
          </p:cNvPr>
          <p:cNvSpPr txBox="1"/>
          <p:nvPr/>
        </p:nvSpPr>
        <p:spPr>
          <a:xfrm>
            <a:off x="813000" y="58140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Memory {{UpdateWeb02 : </a:t>
            </a:r>
            <a:r>
              <a:rPr lang="en-US" altLang="ko-KR" sz="1000" spc="-5" dirty="0" err="1">
                <a:latin typeface="맑은 고딕"/>
              </a:rPr>
              <a:t>Memory_C</a:t>
            </a:r>
            <a:r>
              <a:rPr lang="en-US" altLang="ko-KR" sz="1000" spc="-5" dirty="0">
                <a:latin typeface="맑은 고딕"/>
              </a:rPr>
              <a:t>}}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2667635" cy="650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dirty="0">
                <a:latin typeface="맑은 고딕"/>
                <a:cs typeface="맑은 고딕"/>
              </a:rPr>
              <a:t>C: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288" y="5182365"/>
            <a:ext cx="2677795" cy="312906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0" dirty="0">
                <a:latin typeface="맑은 고딕"/>
                <a:cs typeface="맑은 고딕"/>
              </a:rPr>
              <a:t> </a:t>
            </a:r>
            <a:r>
              <a:rPr sz="1300" spc="-10" dirty="0">
                <a:latin typeface="맑은 고딕"/>
                <a:cs typeface="맑은 고딕"/>
              </a:rPr>
              <a:t>D:</a:t>
            </a:r>
            <a:r>
              <a:rPr sz="1300" spc="160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6" name="UpdateWeb02___D_74">
            <a:extLst>
              <a:ext uri="{FF2B5EF4-FFF2-40B4-BE49-F238E27FC236}">
                <a16:creationId xmlns:a16="http://schemas.microsoft.com/office/drawing/2014/main" id="{6B52F16C-DFFD-A4C3-40B4-3CA0C4A9707F}"/>
              </a:ext>
            </a:extLst>
          </p:cNvPr>
          <p:cNvSpPr/>
          <p:nvPr/>
        </p:nvSpPr>
        <p:spPr>
          <a:xfrm>
            <a:off x="900430" y="5853810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UpdateWeb02___C_72">
            <a:extLst>
              <a:ext uri="{FF2B5EF4-FFF2-40B4-BE49-F238E27FC236}">
                <a16:creationId xmlns:a16="http://schemas.microsoft.com/office/drawing/2014/main" id="{D242C43B-E25D-F8C6-9B4B-E764785F9776}"/>
              </a:ext>
            </a:extLst>
          </p:cNvPr>
          <p:cNvSpPr/>
          <p:nvPr/>
        </p:nvSpPr>
        <p:spPr>
          <a:xfrm>
            <a:off x="900430" y="2053208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2E28A-EF50-DB74-08BF-ECC15C62E9D3}"/>
              </a:ext>
            </a:extLst>
          </p:cNvPr>
          <p:cNvSpPr txBox="1"/>
          <p:nvPr/>
        </p:nvSpPr>
        <p:spPr>
          <a:xfrm>
            <a:off x="813000" y="17172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C: {{UpdateWeb02 : C_C}}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F62B66-A0D6-78B5-4DAF-7928A96967F7}"/>
              </a:ext>
            </a:extLst>
          </p:cNvPr>
          <p:cNvSpPr txBox="1"/>
          <p:nvPr/>
        </p:nvSpPr>
        <p:spPr>
          <a:xfrm>
            <a:off x="813600" y="55224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D: {{UpdateWeb02 : D_C}}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2652395" cy="650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E: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4" name="UpdateWeb02___E_73">
            <a:extLst>
              <a:ext uri="{FF2B5EF4-FFF2-40B4-BE49-F238E27FC236}">
                <a16:creationId xmlns:a16="http://schemas.microsoft.com/office/drawing/2014/main" id="{4EF537CE-871A-1ACE-6194-ED25F3041327}"/>
              </a:ext>
            </a:extLst>
          </p:cNvPr>
          <p:cNvSpPr/>
          <p:nvPr/>
        </p:nvSpPr>
        <p:spPr>
          <a:xfrm>
            <a:off x="900430" y="2053208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B0E99E-0BA2-17F2-A123-B275C586AEC2}"/>
              </a:ext>
            </a:extLst>
          </p:cNvPr>
          <p:cNvSpPr txBox="1"/>
          <p:nvPr/>
        </p:nvSpPr>
        <p:spPr>
          <a:xfrm>
            <a:off x="813000" y="17172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E: {{UpdateWeb02 : E_C}}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3409315" cy="10560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571500">
              <a:lnSpc>
                <a:spcPct val="100000"/>
              </a:lnSpc>
              <a:spcBef>
                <a:spcPts val="1560"/>
              </a:spcBef>
            </a:pPr>
            <a:r>
              <a:rPr sz="1300" b="1" spc="-5" dirty="0">
                <a:latin typeface="맑은 고딕"/>
                <a:cs typeface="맑은 고딕"/>
              </a:rPr>
              <a:t>3.7</a:t>
            </a:r>
            <a:r>
              <a:rPr sz="1300" b="1" dirty="0">
                <a:latin typeface="맑은 고딕"/>
                <a:cs typeface="맑은 고딕"/>
              </a:rPr>
              <a:t> </a:t>
            </a:r>
            <a:r>
              <a:rPr sz="1300" b="1" spc="-10" dirty="0">
                <a:latin typeface="맑은 고딕"/>
                <a:cs typeface="맑은 고딕"/>
              </a:rPr>
              <a:t>GIT3</a:t>
            </a:r>
            <a:r>
              <a:rPr sz="1300" b="1" dirty="0">
                <a:latin typeface="맑은 고딕"/>
                <a:cs typeface="맑은 고딕"/>
              </a:rPr>
              <a:t> </a:t>
            </a:r>
            <a:r>
              <a:rPr sz="1300" b="1" spc="-5" dirty="0">
                <a:latin typeface="맑은 고딕"/>
                <a:cs typeface="맑은 고딕"/>
              </a:rPr>
              <a:t>WebSite01</a:t>
            </a:r>
            <a:r>
              <a:rPr sz="1300" b="1" spc="25" dirty="0">
                <a:latin typeface="맑은 고딕"/>
                <a:cs typeface="맑은 고딕"/>
              </a:rPr>
              <a:t> </a:t>
            </a:r>
            <a:r>
              <a:rPr sz="1300" b="1" spc="-5" dirty="0">
                <a:latin typeface="맑은 고딕"/>
                <a:cs typeface="맑은 고딕"/>
              </a:rPr>
              <a:t>(211.34.230.99)</a:t>
            </a:r>
            <a:endParaRPr sz="13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CPU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288" y="5465040"/>
            <a:ext cx="2898775" cy="315471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2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Memory</a:t>
            </a:r>
            <a:r>
              <a:rPr sz="1300" spc="160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6" name="WebSite01___Memory_29">
            <a:extLst>
              <a:ext uri="{FF2B5EF4-FFF2-40B4-BE49-F238E27FC236}">
                <a16:creationId xmlns:a16="http://schemas.microsoft.com/office/drawing/2014/main" id="{E81E98F9-DE6D-A2F0-A888-88A3837FFFC0}"/>
              </a:ext>
            </a:extLst>
          </p:cNvPr>
          <p:cNvSpPr/>
          <p:nvPr/>
        </p:nvSpPr>
        <p:spPr>
          <a:xfrm>
            <a:off x="900430" y="6139433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WebSite01___CPU_30">
            <a:extLst>
              <a:ext uri="{FF2B5EF4-FFF2-40B4-BE49-F238E27FC236}">
                <a16:creationId xmlns:a16="http://schemas.microsoft.com/office/drawing/2014/main" id="{37EE3FB2-3F59-6FF3-F5E6-839052E234D7}"/>
              </a:ext>
            </a:extLst>
          </p:cNvPr>
          <p:cNvSpPr/>
          <p:nvPr/>
        </p:nvSpPr>
        <p:spPr>
          <a:xfrm>
            <a:off x="900000" y="2440431"/>
            <a:ext cx="5690870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ABBA0F-E801-7A0D-70C9-47ED543817A8}"/>
              </a:ext>
            </a:extLst>
          </p:cNvPr>
          <p:cNvSpPr txBox="1"/>
          <p:nvPr/>
        </p:nvSpPr>
        <p:spPr>
          <a:xfrm>
            <a:off x="813000" y="21240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CPU {{WebSite01 : CPU_A}}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D81688-17DF-301D-3F3A-0D480CA1DA9D}"/>
              </a:ext>
            </a:extLst>
          </p:cNvPr>
          <p:cNvSpPr txBox="1"/>
          <p:nvPr/>
        </p:nvSpPr>
        <p:spPr>
          <a:xfrm>
            <a:off x="813000" y="58140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Memory {{WebSite01 : </a:t>
            </a:r>
            <a:r>
              <a:rPr lang="en-US" altLang="ko-KR" sz="1000" spc="-5" dirty="0" err="1">
                <a:latin typeface="맑은 고딕"/>
              </a:rPr>
              <a:t>Memory_C</a:t>
            </a:r>
            <a:r>
              <a:rPr lang="en-US" altLang="ko-KR" sz="1000" spc="-5" dirty="0">
                <a:latin typeface="맑은 고딕"/>
              </a:rPr>
              <a:t>}}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2528570" cy="650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dirty="0">
                <a:latin typeface="맑은 고딕"/>
                <a:cs typeface="맑은 고딕"/>
              </a:rPr>
              <a:t>C: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288" y="5182365"/>
            <a:ext cx="2539365" cy="312906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0" dirty="0">
                <a:latin typeface="맑은 고딕"/>
                <a:cs typeface="맑은 고딕"/>
              </a:rPr>
              <a:t> </a:t>
            </a:r>
            <a:r>
              <a:rPr sz="1300" spc="-10" dirty="0">
                <a:latin typeface="맑은 고딕"/>
                <a:cs typeface="맑은 고딕"/>
              </a:rPr>
              <a:t>D:</a:t>
            </a:r>
            <a:r>
              <a:rPr sz="1300" spc="160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6" name="WebSite01___D_28">
            <a:extLst>
              <a:ext uri="{FF2B5EF4-FFF2-40B4-BE49-F238E27FC236}">
                <a16:creationId xmlns:a16="http://schemas.microsoft.com/office/drawing/2014/main" id="{46C6D2D1-A555-7161-C784-5E17B4F4D140}"/>
              </a:ext>
            </a:extLst>
          </p:cNvPr>
          <p:cNvSpPr/>
          <p:nvPr/>
        </p:nvSpPr>
        <p:spPr>
          <a:xfrm>
            <a:off x="900430" y="5853810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WebSite01___C_27">
            <a:extLst>
              <a:ext uri="{FF2B5EF4-FFF2-40B4-BE49-F238E27FC236}">
                <a16:creationId xmlns:a16="http://schemas.microsoft.com/office/drawing/2014/main" id="{AB6F76C1-BC5C-901D-D5CA-40B349CFFBFA}"/>
              </a:ext>
            </a:extLst>
          </p:cNvPr>
          <p:cNvSpPr/>
          <p:nvPr/>
        </p:nvSpPr>
        <p:spPr>
          <a:xfrm>
            <a:off x="900430" y="2053208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A62021-2379-6E6D-6F74-2525019D47EA}"/>
              </a:ext>
            </a:extLst>
          </p:cNvPr>
          <p:cNvSpPr txBox="1"/>
          <p:nvPr/>
        </p:nvSpPr>
        <p:spPr>
          <a:xfrm>
            <a:off x="813000" y="17172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C: {{WebSite01 : C_C}}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3BBA12-5403-BBB5-916B-ECC04BB7056E}"/>
              </a:ext>
            </a:extLst>
          </p:cNvPr>
          <p:cNvSpPr txBox="1"/>
          <p:nvPr/>
        </p:nvSpPr>
        <p:spPr>
          <a:xfrm>
            <a:off x="813600" y="55224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D: {{WebSite01 : D_C}}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2513330" cy="650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E: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4" name="WebSite01___E_20">
            <a:extLst>
              <a:ext uri="{FF2B5EF4-FFF2-40B4-BE49-F238E27FC236}">
                <a16:creationId xmlns:a16="http://schemas.microsoft.com/office/drawing/2014/main" id="{D227B012-253B-2721-C55A-EE33D204811B}"/>
              </a:ext>
            </a:extLst>
          </p:cNvPr>
          <p:cNvSpPr/>
          <p:nvPr/>
        </p:nvSpPr>
        <p:spPr>
          <a:xfrm>
            <a:off x="900430" y="2053208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E4070C-A555-825F-2AA7-1972F1C47065}"/>
              </a:ext>
            </a:extLst>
          </p:cNvPr>
          <p:cNvSpPr txBox="1"/>
          <p:nvPr/>
        </p:nvSpPr>
        <p:spPr>
          <a:xfrm>
            <a:off x="813000" y="17172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E: {{WebSite01 : E_C}}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3503295" cy="10560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571500">
              <a:lnSpc>
                <a:spcPct val="100000"/>
              </a:lnSpc>
              <a:spcBef>
                <a:spcPts val="1560"/>
              </a:spcBef>
            </a:pPr>
            <a:r>
              <a:rPr sz="1300" b="1" spc="-5" dirty="0">
                <a:latin typeface="맑은 고딕"/>
                <a:cs typeface="맑은 고딕"/>
              </a:rPr>
              <a:t>3.8</a:t>
            </a:r>
            <a:r>
              <a:rPr sz="1300" b="1" dirty="0">
                <a:latin typeface="맑은 고딕"/>
                <a:cs typeface="맑은 고딕"/>
              </a:rPr>
              <a:t> </a:t>
            </a:r>
            <a:r>
              <a:rPr sz="1300" b="1" spc="-10" dirty="0">
                <a:latin typeface="맑은 고딕"/>
                <a:cs typeface="맑은 고딕"/>
              </a:rPr>
              <a:t>GIT3</a:t>
            </a:r>
            <a:r>
              <a:rPr sz="1300" b="1" dirty="0">
                <a:latin typeface="맑은 고딕"/>
                <a:cs typeface="맑은 고딕"/>
              </a:rPr>
              <a:t> </a:t>
            </a:r>
            <a:r>
              <a:rPr sz="1300" b="1" spc="-5" dirty="0">
                <a:latin typeface="맑은 고딕"/>
                <a:cs typeface="맑은 고딕"/>
              </a:rPr>
              <a:t>WebSite02</a:t>
            </a:r>
            <a:r>
              <a:rPr sz="1300" b="1" spc="20" dirty="0">
                <a:latin typeface="맑은 고딕"/>
                <a:cs typeface="맑은 고딕"/>
              </a:rPr>
              <a:t> </a:t>
            </a:r>
            <a:r>
              <a:rPr sz="1300" b="1" spc="-5" dirty="0">
                <a:latin typeface="맑은 고딕"/>
                <a:cs typeface="맑은 고딕"/>
              </a:rPr>
              <a:t>(211.34.230.100)</a:t>
            </a:r>
            <a:endParaRPr sz="13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CPU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288" y="5465040"/>
            <a:ext cx="2799715" cy="315471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2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Memory</a:t>
            </a:r>
            <a:r>
              <a:rPr sz="1300" spc="160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6" name="WebSite02___Memory_81">
            <a:extLst>
              <a:ext uri="{FF2B5EF4-FFF2-40B4-BE49-F238E27FC236}">
                <a16:creationId xmlns:a16="http://schemas.microsoft.com/office/drawing/2014/main" id="{1A54976D-9B98-B253-C422-B2DB5383DEE1}"/>
              </a:ext>
            </a:extLst>
          </p:cNvPr>
          <p:cNvSpPr/>
          <p:nvPr/>
        </p:nvSpPr>
        <p:spPr>
          <a:xfrm>
            <a:off x="900430" y="6139433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WebSite02___CPU_80">
            <a:extLst>
              <a:ext uri="{FF2B5EF4-FFF2-40B4-BE49-F238E27FC236}">
                <a16:creationId xmlns:a16="http://schemas.microsoft.com/office/drawing/2014/main" id="{D1B1B150-4B08-437B-98C5-D2A3756D3105}"/>
              </a:ext>
            </a:extLst>
          </p:cNvPr>
          <p:cNvSpPr/>
          <p:nvPr/>
        </p:nvSpPr>
        <p:spPr>
          <a:xfrm>
            <a:off x="900000" y="2440431"/>
            <a:ext cx="5690870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81665A-FBF2-5B3D-BAB2-1764E7D45C5C}"/>
              </a:ext>
            </a:extLst>
          </p:cNvPr>
          <p:cNvSpPr txBox="1"/>
          <p:nvPr/>
        </p:nvSpPr>
        <p:spPr>
          <a:xfrm>
            <a:off x="813000" y="21240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CPU {{WebSite02 : CPU_A}}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65715F-4CBA-64AB-2212-6E864882C8A3}"/>
              </a:ext>
            </a:extLst>
          </p:cNvPr>
          <p:cNvSpPr txBox="1"/>
          <p:nvPr/>
        </p:nvSpPr>
        <p:spPr>
          <a:xfrm>
            <a:off x="813000" y="58140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Memory {{WebSite02 : </a:t>
            </a:r>
            <a:r>
              <a:rPr lang="en-US" altLang="ko-KR" sz="1000" spc="-5" dirty="0" err="1">
                <a:latin typeface="맑은 고딕"/>
              </a:rPr>
              <a:t>Memory_C</a:t>
            </a:r>
            <a:r>
              <a:rPr lang="en-US" altLang="ko-KR" sz="1000" spc="-5" dirty="0">
                <a:latin typeface="맑은 고딕"/>
              </a:rPr>
              <a:t>}}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2667635" cy="650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dirty="0">
                <a:latin typeface="맑은 고딕"/>
                <a:cs typeface="맑은 고딕"/>
              </a:rPr>
              <a:t>C: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288" y="5182365"/>
            <a:ext cx="2677795" cy="312906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0" dirty="0">
                <a:latin typeface="맑은 고딕"/>
                <a:cs typeface="맑은 고딕"/>
              </a:rPr>
              <a:t> </a:t>
            </a:r>
            <a:r>
              <a:rPr sz="1300" spc="-10" dirty="0">
                <a:latin typeface="맑은 고딕"/>
                <a:cs typeface="맑은 고딕"/>
              </a:rPr>
              <a:t>D:</a:t>
            </a:r>
            <a:r>
              <a:rPr sz="1300" spc="160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6" name="WebSite02___D_83">
            <a:extLst>
              <a:ext uri="{FF2B5EF4-FFF2-40B4-BE49-F238E27FC236}">
                <a16:creationId xmlns:a16="http://schemas.microsoft.com/office/drawing/2014/main" id="{53DA7BD7-158B-48CF-10F4-26BC86A7B635}"/>
              </a:ext>
            </a:extLst>
          </p:cNvPr>
          <p:cNvSpPr/>
          <p:nvPr/>
        </p:nvSpPr>
        <p:spPr>
          <a:xfrm>
            <a:off x="900430" y="5853810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WebSite02___C_82">
            <a:extLst>
              <a:ext uri="{FF2B5EF4-FFF2-40B4-BE49-F238E27FC236}">
                <a16:creationId xmlns:a16="http://schemas.microsoft.com/office/drawing/2014/main" id="{4A5CC254-DE15-9775-93BA-52646DD519A0}"/>
              </a:ext>
            </a:extLst>
          </p:cNvPr>
          <p:cNvSpPr/>
          <p:nvPr/>
        </p:nvSpPr>
        <p:spPr>
          <a:xfrm>
            <a:off x="900430" y="2053208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7831AF-3BD5-73DD-0BF4-242DCF523D71}"/>
              </a:ext>
            </a:extLst>
          </p:cNvPr>
          <p:cNvSpPr txBox="1"/>
          <p:nvPr/>
        </p:nvSpPr>
        <p:spPr>
          <a:xfrm>
            <a:off x="813000" y="17172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C: {{WebSite02 : C_C}}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77727-36A4-6F7A-97E7-5F74A67C7A05}"/>
              </a:ext>
            </a:extLst>
          </p:cNvPr>
          <p:cNvSpPr txBox="1"/>
          <p:nvPr/>
        </p:nvSpPr>
        <p:spPr>
          <a:xfrm>
            <a:off x="813600" y="55224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D: {{WebSite02 : D_C}}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2513330" cy="650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E: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4" name="WebSite02___E_84">
            <a:extLst>
              <a:ext uri="{FF2B5EF4-FFF2-40B4-BE49-F238E27FC236}">
                <a16:creationId xmlns:a16="http://schemas.microsoft.com/office/drawing/2014/main" id="{A664629B-AF4E-09F7-3687-386F5968F84C}"/>
              </a:ext>
            </a:extLst>
          </p:cNvPr>
          <p:cNvSpPr/>
          <p:nvPr/>
        </p:nvSpPr>
        <p:spPr>
          <a:xfrm>
            <a:off x="900430" y="2053208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8D74BA-F285-CFAD-8828-91AEFC771BBB}"/>
              </a:ext>
            </a:extLst>
          </p:cNvPr>
          <p:cNvSpPr txBox="1"/>
          <p:nvPr/>
        </p:nvSpPr>
        <p:spPr>
          <a:xfrm>
            <a:off x="813000" y="17172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E: {{WebSite02 : E_C}}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3250565" cy="10560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571500">
              <a:lnSpc>
                <a:spcPct val="100000"/>
              </a:lnSpc>
              <a:spcBef>
                <a:spcPts val="1560"/>
              </a:spcBef>
            </a:pPr>
            <a:r>
              <a:rPr sz="1300" b="1" spc="-5" dirty="0">
                <a:latin typeface="맑은 고딕"/>
                <a:cs typeface="맑은 고딕"/>
              </a:rPr>
              <a:t>3.9</a:t>
            </a:r>
            <a:r>
              <a:rPr sz="1300" b="1" dirty="0">
                <a:latin typeface="맑은 고딕"/>
                <a:cs typeface="맑은 고딕"/>
              </a:rPr>
              <a:t> </a:t>
            </a:r>
            <a:r>
              <a:rPr sz="1300" b="1" spc="-10" dirty="0">
                <a:latin typeface="맑은 고딕"/>
                <a:cs typeface="맑은 고딕"/>
              </a:rPr>
              <a:t>GIT3</a:t>
            </a:r>
            <a:r>
              <a:rPr sz="1300" b="1" spc="5" dirty="0">
                <a:latin typeface="맑은 고딕"/>
                <a:cs typeface="맑은 고딕"/>
              </a:rPr>
              <a:t> </a:t>
            </a:r>
            <a:r>
              <a:rPr sz="1300" b="1" spc="-5" dirty="0">
                <a:latin typeface="맑은 고딕"/>
                <a:cs typeface="맑은 고딕"/>
              </a:rPr>
              <a:t>TestWeb</a:t>
            </a:r>
            <a:r>
              <a:rPr sz="1300" b="1" spc="5" dirty="0">
                <a:latin typeface="맑은 고딕"/>
                <a:cs typeface="맑은 고딕"/>
              </a:rPr>
              <a:t> </a:t>
            </a:r>
            <a:r>
              <a:rPr sz="1300" b="1" spc="-5" dirty="0">
                <a:latin typeface="맑은 고딕"/>
                <a:cs typeface="맑은 고딕"/>
              </a:rPr>
              <a:t>(211.34.230.97)</a:t>
            </a:r>
            <a:endParaRPr sz="13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CPU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288" y="5465040"/>
            <a:ext cx="2967355" cy="315471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2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Memory</a:t>
            </a:r>
            <a:r>
              <a:rPr sz="1300" spc="160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6" name="TestWeb___Memory_57">
            <a:extLst>
              <a:ext uri="{FF2B5EF4-FFF2-40B4-BE49-F238E27FC236}">
                <a16:creationId xmlns:a16="http://schemas.microsoft.com/office/drawing/2014/main" id="{294A269E-FE81-2D76-33C7-FFDB48243F8B}"/>
              </a:ext>
            </a:extLst>
          </p:cNvPr>
          <p:cNvSpPr/>
          <p:nvPr/>
        </p:nvSpPr>
        <p:spPr>
          <a:xfrm>
            <a:off x="900430" y="6139433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stWeb___CPU_56">
            <a:extLst>
              <a:ext uri="{FF2B5EF4-FFF2-40B4-BE49-F238E27FC236}">
                <a16:creationId xmlns:a16="http://schemas.microsoft.com/office/drawing/2014/main" id="{2623EE71-A823-11F7-7F5B-9A76EA6C67A1}"/>
              </a:ext>
            </a:extLst>
          </p:cNvPr>
          <p:cNvSpPr/>
          <p:nvPr/>
        </p:nvSpPr>
        <p:spPr>
          <a:xfrm>
            <a:off x="900000" y="2440431"/>
            <a:ext cx="5690870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0F2B4E-65D8-D1A6-170C-C32B9A1C39CC}"/>
              </a:ext>
            </a:extLst>
          </p:cNvPr>
          <p:cNvSpPr txBox="1"/>
          <p:nvPr/>
        </p:nvSpPr>
        <p:spPr>
          <a:xfrm>
            <a:off x="813000" y="21240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CPU {{</a:t>
            </a:r>
            <a:r>
              <a:rPr lang="en-US" altLang="ko-KR" sz="1000" spc="-5" dirty="0" err="1">
                <a:latin typeface="맑은 고딕"/>
              </a:rPr>
              <a:t>TestWeb</a:t>
            </a:r>
            <a:r>
              <a:rPr lang="en-US" altLang="ko-KR" sz="1000" spc="-5" dirty="0">
                <a:latin typeface="맑은 고딕"/>
              </a:rPr>
              <a:t>: CPU_A}}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799717-6DBD-0F85-A9B5-E1D25C9687DC}"/>
              </a:ext>
            </a:extLst>
          </p:cNvPr>
          <p:cNvSpPr txBox="1"/>
          <p:nvPr/>
        </p:nvSpPr>
        <p:spPr>
          <a:xfrm>
            <a:off x="813000" y="58140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Memory {{</a:t>
            </a:r>
            <a:r>
              <a:rPr lang="en-US" altLang="ko-KR" sz="1000" spc="-5" dirty="0" err="1">
                <a:latin typeface="맑은 고딕"/>
              </a:rPr>
              <a:t>TestWeb</a:t>
            </a:r>
            <a:r>
              <a:rPr lang="en-US" altLang="ko-KR" sz="1000" spc="-5" dirty="0">
                <a:latin typeface="맑은 고딕"/>
              </a:rPr>
              <a:t> : </a:t>
            </a:r>
            <a:r>
              <a:rPr lang="en-US" altLang="ko-KR" sz="1000" spc="-5" dirty="0" err="1">
                <a:latin typeface="맑은 고딕"/>
              </a:rPr>
              <a:t>Memory_C</a:t>
            </a:r>
            <a:r>
              <a:rPr lang="en-US" altLang="ko-KR" sz="1000" spc="-5" dirty="0">
                <a:latin typeface="맑은 고딕"/>
              </a:rPr>
              <a:t>}}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2667635" cy="650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dirty="0">
                <a:latin typeface="맑은 고딕"/>
                <a:cs typeface="맑은 고딕"/>
              </a:rPr>
              <a:t>C: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288" y="5182365"/>
            <a:ext cx="2677795" cy="312906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0" dirty="0">
                <a:latin typeface="맑은 고딕"/>
                <a:cs typeface="맑은 고딕"/>
              </a:rPr>
              <a:t> </a:t>
            </a:r>
            <a:r>
              <a:rPr sz="1300" spc="-10" dirty="0">
                <a:latin typeface="맑은 고딕"/>
                <a:cs typeface="맑은 고딕"/>
              </a:rPr>
              <a:t>D:</a:t>
            </a:r>
            <a:r>
              <a:rPr sz="1300" spc="160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6" name="TestWeb___D_55">
            <a:extLst>
              <a:ext uri="{FF2B5EF4-FFF2-40B4-BE49-F238E27FC236}">
                <a16:creationId xmlns:a16="http://schemas.microsoft.com/office/drawing/2014/main" id="{FCB2D756-C585-F5B4-9730-067DC677DD8F}"/>
              </a:ext>
            </a:extLst>
          </p:cNvPr>
          <p:cNvSpPr/>
          <p:nvPr/>
        </p:nvSpPr>
        <p:spPr>
          <a:xfrm>
            <a:off x="900430" y="5853810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stWeb___C_54">
            <a:extLst>
              <a:ext uri="{FF2B5EF4-FFF2-40B4-BE49-F238E27FC236}">
                <a16:creationId xmlns:a16="http://schemas.microsoft.com/office/drawing/2014/main" id="{563C17A5-8E78-B162-8646-4D9280C53DBA}"/>
              </a:ext>
            </a:extLst>
          </p:cNvPr>
          <p:cNvSpPr/>
          <p:nvPr/>
        </p:nvSpPr>
        <p:spPr>
          <a:xfrm>
            <a:off x="900430" y="2053208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F8C040-0CA1-E991-94C7-7858C372C277}"/>
              </a:ext>
            </a:extLst>
          </p:cNvPr>
          <p:cNvSpPr txBox="1"/>
          <p:nvPr/>
        </p:nvSpPr>
        <p:spPr>
          <a:xfrm>
            <a:off x="813000" y="17172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C: {{</a:t>
            </a:r>
            <a:r>
              <a:rPr lang="en-US" altLang="ko-KR" sz="1000" spc="-5" dirty="0" err="1">
                <a:latin typeface="맑은 고딕"/>
              </a:rPr>
              <a:t>TestWeb</a:t>
            </a:r>
            <a:r>
              <a:rPr lang="en-US" altLang="ko-KR" sz="1000" spc="-5" dirty="0">
                <a:latin typeface="맑은 고딕"/>
              </a:rPr>
              <a:t> : C_C}}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9C6194-CC9E-7F7C-C3B8-E8022F571677}"/>
              </a:ext>
            </a:extLst>
          </p:cNvPr>
          <p:cNvSpPr txBox="1"/>
          <p:nvPr/>
        </p:nvSpPr>
        <p:spPr>
          <a:xfrm>
            <a:off x="813600" y="55224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D: {{</a:t>
            </a:r>
            <a:r>
              <a:rPr lang="en-US" altLang="ko-KR" sz="1000" spc="-5" dirty="0" err="1">
                <a:latin typeface="맑은 고딕"/>
              </a:rPr>
              <a:t>TestWeb</a:t>
            </a:r>
            <a:r>
              <a:rPr lang="en-US" altLang="ko-KR" sz="1000" spc="-5" dirty="0">
                <a:latin typeface="맑은 고딕"/>
              </a:rPr>
              <a:t> : D_C}}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2513330" cy="650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E: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4" name="TestWeb___E_59">
            <a:extLst>
              <a:ext uri="{FF2B5EF4-FFF2-40B4-BE49-F238E27FC236}">
                <a16:creationId xmlns:a16="http://schemas.microsoft.com/office/drawing/2014/main" id="{3C66DCEE-F7A4-2DFA-E0EC-5081BE14EDDD}"/>
              </a:ext>
            </a:extLst>
          </p:cNvPr>
          <p:cNvSpPr/>
          <p:nvPr/>
        </p:nvSpPr>
        <p:spPr>
          <a:xfrm>
            <a:off x="900430" y="2053208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7867A4-4BDE-FA79-32CF-8BEE05ECCCEB}"/>
              </a:ext>
            </a:extLst>
          </p:cNvPr>
          <p:cNvSpPr txBox="1"/>
          <p:nvPr/>
        </p:nvSpPr>
        <p:spPr>
          <a:xfrm>
            <a:off x="813000" y="17172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E: {{</a:t>
            </a:r>
            <a:r>
              <a:rPr lang="en-US" altLang="ko-KR" sz="1000" spc="-5" dirty="0" err="1">
                <a:latin typeface="맑은 고딕"/>
              </a:rPr>
              <a:t>TestWeb</a:t>
            </a:r>
            <a:r>
              <a:rPr lang="en-US" altLang="ko-KR" sz="1000" spc="-5" dirty="0">
                <a:latin typeface="맑은 고딕"/>
              </a:rPr>
              <a:t> : E_C}}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3213735" cy="10560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571500">
              <a:lnSpc>
                <a:spcPct val="100000"/>
              </a:lnSpc>
              <a:spcBef>
                <a:spcPts val="1560"/>
              </a:spcBef>
            </a:pPr>
            <a:r>
              <a:rPr sz="1300" b="1" spc="-5" dirty="0">
                <a:latin typeface="맑은 고딕"/>
                <a:cs typeface="맑은 고딕"/>
              </a:rPr>
              <a:t>3.10</a:t>
            </a:r>
            <a:r>
              <a:rPr sz="1300" b="1" dirty="0">
                <a:latin typeface="맑은 고딕"/>
                <a:cs typeface="맑은 고딕"/>
              </a:rPr>
              <a:t> </a:t>
            </a:r>
            <a:r>
              <a:rPr sz="1300" b="1" spc="-10" dirty="0">
                <a:latin typeface="맑은 고딕"/>
                <a:cs typeface="맑은 고딕"/>
              </a:rPr>
              <a:t>GIT3</a:t>
            </a:r>
            <a:r>
              <a:rPr sz="1300" b="1" dirty="0">
                <a:latin typeface="맑은 고딕"/>
                <a:cs typeface="맑은 고딕"/>
              </a:rPr>
              <a:t> </a:t>
            </a:r>
            <a:r>
              <a:rPr sz="1300" b="1" spc="-5" dirty="0">
                <a:latin typeface="맑은 고딕"/>
                <a:cs typeface="맑은 고딕"/>
              </a:rPr>
              <a:t>TestDB</a:t>
            </a:r>
            <a:r>
              <a:rPr sz="1300" b="1" spc="5" dirty="0">
                <a:latin typeface="맑은 고딕"/>
                <a:cs typeface="맑은 고딕"/>
              </a:rPr>
              <a:t> </a:t>
            </a:r>
            <a:r>
              <a:rPr sz="1300" b="1" spc="-5" dirty="0">
                <a:latin typeface="맑은 고딕"/>
                <a:cs typeface="맑은 고딕"/>
              </a:rPr>
              <a:t>(211.34.230.98)</a:t>
            </a:r>
            <a:endParaRPr sz="13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CPU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288" y="5465040"/>
            <a:ext cx="3037840" cy="315471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2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Memory</a:t>
            </a:r>
            <a:r>
              <a:rPr sz="1300" spc="160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6" name="TestDB___Memory_51">
            <a:extLst>
              <a:ext uri="{FF2B5EF4-FFF2-40B4-BE49-F238E27FC236}">
                <a16:creationId xmlns:a16="http://schemas.microsoft.com/office/drawing/2014/main" id="{96561B50-8B92-D8EB-D3F9-480ACFF1344C}"/>
              </a:ext>
            </a:extLst>
          </p:cNvPr>
          <p:cNvSpPr/>
          <p:nvPr/>
        </p:nvSpPr>
        <p:spPr>
          <a:xfrm>
            <a:off x="900430" y="6139433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stDB___CPU_52">
            <a:extLst>
              <a:ext uri="{FF2B5EF4-FFF2-40B4-BE49-F238E27FC236}">
                <a16:creationId xmlns:a16="http://schemas.microsoft.com/office/drawing/2014/main" id="{643D2C6A-3354-1657-3FF9-2EB6C464CAD5}"/>
              </a:ext>
            </a:extLst>
          </p:cNvPr>
          <p:cNvSpPr/>
          <p:nvPr/>
        </p:nvSpPr>
        <p:spPr>
          <a:xfrm>
            <a:off x="969010" y="2440431"/>
            <a:ext cx="5690870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08B7B-1558-7388-6CF6-E2FCD86FAF89}"/>
              </a:ext>
            </a:extLst>
          </p:cNvPr>
          <p:cNvSpPr txBox="1"/>
          <p:nvPr/>
        </p:nvSpPr>
        <p:spPr>
          <a:xfrm>
            <a:off x="813000" y="21240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CPU {{</a:t>
            </a:r>
            <a:r>
              <a:rPr lang="en-US" altLang="ko-KR" sz="1000" spc="-5" dirty="0" err="1">
                <a:latin typeface="맑은 고딕"/>
              </a:rPr>
              <a:t>TestDB</a:t>
            </a:r>
            <a:r>
              <a:rPr lang="en-US" altLang="ko-KR" sz="1000" spc="-5" dirty="0">
                <a:latin typeface="맑은 고딕"/>
              </a:rPr>
              <a:t>: CPU_A}}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DE1172-4315-C0D8-3401-60073C1F9B18}"/>
              </a:ext>
            </a:extLst>
          </p:cNvPr>
          <p:cNvSpPr txBox="1"/>
          <p:nvPr/>
        </p:nvSpPr>
        <p:spPr>
          <a:xfrm>
            <a:off x="813000" y="58140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Memory {{</a:t>
            </a:r>
            <a:r>
              <a:rPr lang="en-US" altLang="ko-KR" sz="1000" spc="-5" dirty="0" err="1">
                <a:latin typeface="맑은 고딕"/>
              </a:rPr>
              <a:t>TestDB</a:t>
            </a:r>
            <a:r>
              <a:rPr lang="en-US" altLang="ko-KR" sz="1000" spc="-5" dirty="0">
                <a:latin typeface="맑은 고딕"/>
              </a:rPr>
              <a:t> : </a:t>
            </a:r>
            <a:r>
              <a:rPr lang="en-US" altLang="ko-KR" sz="1000" spc="-5" dirty="0" err="1">
                <a:latin typeface="맑은 고딕"/>
              </a:rPr>
              <a:t>Memory_C</a:t>
            </a:r>
            <a:r>
              <a:rPr lang="en-US" altLang="ko-KR" sz="1000" spc="-5" dirty="0">
                <a:latin typeface="맑은 고딕"/>
              </a:rPr>
              <a:t>}}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2667635" cy="650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dirty="0">
                <a:latin typeface="맑은 고딕"/>
                <a:cs typeface="맑은 고딕"/>
              </a:rPr>
              <a:t>C: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288" y="5182365"/>
            <a:ext cx="2677795" cy="312906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0" dirty="0">
                <a:latin typeface="맑은 고딕"/>
                <a:cs typeface="맑은 고딕"/>
              </a:rPr>
              <a:t> </a:t>
            </a:r>
            <a:r>
              <a:rPr sz="1300" spc="-10" dirty="0">
                <a:latin typeface="맑은 고딕"/>
                <a:cs typeface="맑은 고딕"/>
              </a:rPr>
              <a:t>D:</a:t>
            </a:r>
            <a:r>
              <a:rPr sz="1300" spc="160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6" name="TestDB___D_50">
            <a:extLst>
              <a:ext uri="{FF2B5EF4-FFF2-40B4-BE49-F238E27FC236}">
                <a16:creationId xmlns:a16="http://schemas.microsoft.com/office/drawing/2014/main" id="{262F305A-8EFD-78A5-BEC5-F0D331108012}"/>
              </a:ext>
            </a:extLst>
          </p:cNvPr>
          <p:cNvSpPr/>
          <p:nvPr/>
        </p:nvSpPr>
        <p:spPr>
          <a:xfrm>
            <a:off x="900430" y="5853810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stDB___C_49">
            <a:extLst>
              <a:ext uri="{FF2B5EF4-FFF2-40B4-BE49-F238E27FC236}">
                <a16:creationId xmlns:a16="http://schemas.microsoft.com/office/drawing/2014/main" id="{A8B3D4C0-A525-9C08-F6BC-45242C2624D2}"/>
              </a:ext>
            </a:extLst>
          </p:cNvPr>
          <p:cNvSpPr/>
          <p:nvPr/>
        </p:nvSpPr>
        <p:spPr>
          <a:xfrm>
            <a:off x="900430" y="2053208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1EEDE5-E212-1466-EEE1-7BB80CA55268}"/>
              </a:ext>
            </a:extLst>
          </p:cNvPr>
          <p:cNvSpPr txBox="1"/>
          <p:nvPr/>
        </p:nvSpPr>
        <p:spPr>
          <a:xfrm>
            <a:off x="813000" y="17172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C: {{</a:t>
            </a:r>
            <a:r>
              <a:rPr lang="en-US" altLang="ko-KR" sz="1000" spc="-5" dirty="0" err="1">
                <a:latin typeface="맑은 고딕"/>
              </a:rPr>
              <a:t>TestDB</a:t>
            </a:r>
            <a:r>
              <a:rPr lang="en-US" altLang="ko-KR" sz="1000" spc="-5" dirty="0">
                <a:latin typeface="맑은 고딕"/>
              </a:rPr>
              <a:t> : C_C}}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002A06-F328-7EE8-A7D5-B5141FC8A536}"/>
              </a:ext>
            </a:extLst>
          </p:cNvPr>
          <p:cNvSpPr txBox="1"/>
          <p:nvPr/>
        </p:nvSpPr>
        <p:spPr>
          <a:xfrm>
            <a:off x="813600" y="55224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D: {{</a:t>
            </a:r>
            <a:r>
              <a:rPr lang="en-US" altLang="ko-KR" sz="1000" spc="-5" dirty="0" err="1">
                <a:latin typeface="맑은 고딕"/>
              </a:rPr>
              <a:t>TestDB</a:t>
            </a:r>
            <a:r>
              <a:rPr lang="en-US" altLang="ko-KR" sz="1000" spc="-5" dirty="0">
                <a:latin typeface="맑은 고딕"/>
              </a:rPr>
              <a:t> : D_C}}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2513330" cy="650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00" spc="-5" dirty="0">
                <a:latin typeface="맑은 고딕"/>
                <a:cs typeface="맑은 고딕"/>
              </a:rPr>
              <a:t>-</a:t>
            </a:r>
            <a:r>
              <a:rPr sz="1300" spc="-35" dirty="0">
                <a:latin typeface="맑은 고딕"/>
                <a:cs typeface="맑은 고딕"/>
              </a:rPr>
              <a:t> </a:t>
            </a:r>
            <a:r>
              <a:rPr sz="1300" spc="-5" dirty="0">
                <a:latin typeface="맑은 고딕"/>
                <a:cs typeface="맑은 고딕"/>
              </a:rPr>
              <a:t>E:</a:t>
            </a:r>
            <a:r>
              <a:rPr sz="1300" spc="155" dirty="0">
                <a:latin typeface="맑은 고딕"/>
                <a:cs typeface="맑은 고딕"/>
              </a:rPr>
              <a:t> </a:t>
            </a:r>
            <a:r>
              <a:rPr sz="1300" spc="-5" dirty="0" err="1">
                <a:latin typeface="맑은 고딕"/>
                <a:cs typeface="맑은 고딕"/>
              </a:rPr>
              <a:t>사용량</a:t>
            </a:r>
            <a:endParaRPr sz="1300" dirty="0">
              <a:latin typeface="맑은 고딕"/>
              <a:cs typeface="맑은 고딕"/>
            </a:endParaRPr>
          </a:p>
        </p:txBody>
      </p:sp>
      <p:sp>
        <p:nvSpPr>
          <p:cNvPr id="4" name="TestDB___E_48">
            <a:extLst>
              <a:ext uri="{FF2B5EF4-FFF2-40B4-BE49-F238E27FC236}">
                <a16:creationId xmlns:a16="http://schemas.microsoft.com/office/drawing/2014/main" id="{B86997D6-738C-7E26-A8A2-54D6A553C798}"/>
              </a:ext>
            </a:extLst>
          </p:cNvPr>
          <p:cNvSpPr/>
          <p:nvPr/>
        </p:nvSpPr>
        <p:spPr>
          <a:xfrm>
            <a:off x="900430" y="2053208"/>
            <a:ext cx="5758688" cy="269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78340A-54AA-7809-F2D6-062986F92C76}"/>
              </a:ext>
            </a:extLst>
          </p:cNvPr>
          <p:cNvSpPr txBox="1"/>
          <p:nvPr/>
        </p:nvSpPr>
        <p:spPr>
          <a:xfrm>
            <a:off x="813000" y="1717200"/>
            <a:ext cx="6303087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000" spc="-5" dirty="0">
                <a:latin typeface="맑은 고딕"/>
              </a:rPr>
              <a:t>E: {{</a:t>
            </a:r>
            <a:r>
              <a:rPr lang="en-US" altLang="ko-KR" sz="1000" spc="-5" dirty="0" err="1">
                <a:latin typeface="맑은 고딕"/>
              </a:rPr>
              <a:t>TestDB</a:t>
            </a:r>
            <a:r>
              <a:rPr lang="en-US" altLang="ko-KR" sz="1000" spc="-5" dirty="0">
                <a:latin typeface="맑은 고딕"/>
              </a:rPr>
              <a:t> : E_C}}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3631565" cy="721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II.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서비스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및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서버</a:t>
            </a:r>
            <a:r>
              <a:rPr sz="1600" b="1" spc="22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현황</a:t>
            </a:r>
            <a:endParaRPr sz="1600">
              <a:latin typeface="맑은 고딕"/>
              <a:cs typeface="맑은 고딕"/>
            </a:endParaRPr>
          </a:p>
          <a:p>
            <a:pPr marL="291465">
              <a:lnSpc>
                <a:spcPct val="100000"/>
              </a:lnSpc>
              <a:spcBef>
                <a:spcPts val="1645"/>
              </a:spcBef>
            </a:pPr>
            <a:r>
              <a:rPr sz="1600" b="1" spc="-5" dirty="0">
                <a:latin typeface="맑은 고딕"/>
                <a:cs typeface="맑은 고딕"/>
              </a:rPr>
              <a:t>4.</a:t>
            </a:r>
            <a:r>
              <a:rPr sz="1600" b="1" spc="-12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네트워크</a:t>
            </a:r>
            <a:r>
              <a:rPr sz="1600" b="1" spc="225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사용량</a:t>
            </a:r>
            <a:r>
              <a:rPr sz="1600" b="1" spc="235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(Traffic</a:t>
            </a:r>
            <a:r>
              <a:rPr sz="1600" b="1" spc="225" dirty="0">
                <a:latin typeface="맑은 고딕"/>
                <a:cs typeface="맑은 고딕"/>
              </a:rPr>
              <a:t> </a:t>
            </a:r>
            <a:r>
              <a:rPr sz="1600" b="1" dirty="0">
                <a:latin typeface="맑은 고딕"/>
                <a:cs typeface="맑은 고딕"/>
              </a:rPr>
              <a:t>사용량)</a:t>
            </a:r>
            <a:endParaRPr sz="1600">
              <a:latin typeface="맑은 고딕"/>
              <a:cs typeface="맑은 고딕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87856" y="4161154"/>
          <a:ext cx="5349238" cy="4084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3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1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4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트래픽</a:t>
                      </a:r>
                      <a:r>
                        <a:rPr sz="900" spc="6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900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사용량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E73BD"/>
                    </a:solidFill>
                  </a:tcPr>
                </a:tc>
                <a:tc>
                  <a:txBody>
                    <a:bodyPr/>
                    <a:lstStyle/>
                    <a:p>
                      <a:pPr marL="6242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spc="-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Outbound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E73BD"/>
                    </a:solidFill>
                  </a:tcPr>
                </a:tc>
                <a:tc>
                  <a:txBody>
                    <a:bodyPr/>
                    <a:lstStyle/>
                    <a:p>
                      <a:pPr marL="67310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spc="-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Inbound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E73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2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spc="-5" dirty="0">
                          <a:latin typeface="맑은 고딕"/>
                          <a:cs typeface="맑은 고딕"/>
                        </a:rPr>
                        <a:t>14253.98GB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8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spc="-5" dirty="0">
                          <a:latin typeface="맑은 고딕"/>
                          <a:cs typeface="맑은 고딕"/>
                        </a:rPr>
                        <a:t>13976.93GB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06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spc="-5" dirty="0">
                          <a:latin typeface="맑은 고딕"/>
                          <a:cs typeface="맑은 고딕"/>
                        </a:rPr>
                        <a:t>277.05GB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4">
            <a:extLst>
              <a:ext uri="{FF2B5EF4-FFF2-40B4-BE49-F238E27FC236}">
                <a16:creationId xmlns:a16="http://schemas.microsoft.com/office/drawing/2014/main" id="{9F97C5D6-0433-4F10-2F58-08EBEB4FE09A}"/>
              </a:ext>
            </a:extLst>
          </p:cNvPr>
          <p:cNvSpPr/>
          <p:nvPr/>
        </p:nvSpPr>
        <p:spPr>
          <a:xfrm>
            <a:off x="900430" y="1899538"/>
            <a:ext cx="5759069" cy="21596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288" y="1040637"/>
            <a:ext cx="2767965" cy="721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AutoNum type="romanUcPeriod" startAt="3"/>
              <a:tabLst>
                <a:tab pos="355600" algn="l"/>
              </a:tabLst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기술</a:t>
            </a:r>
            <a:r>
              <a:rPr sz="1600" b="1" spc="200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1E73BD"/>
                </a:solidFill>
                <a:latin typeface="맑은 고딕"/>
                <a:cs typeface="맑은 고딕"/>
              </a:rPr>
              <a:t>지원</a:t>
            </a:r>
            <a:r>
              <a:rPr sz="1600" b="1" spc="204" dirty="0">
                <a:solidFill>
                  <a:srgbClr val="1E73BD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내역</a:t>
            </a:r>
            <a:endParaRPr sz="1600">
              <a:latin typeface="맑은 고딕"/>
              <a:cs typeface="맑은 고딕"/>
            </a:endParaRPr>
          </a:p>
          <a:p>
            <a:pPr marL="520065" lvl="1" indent="-229235">
              <a:lnSpc>
                <a:spcPct val="100000"/>
              </a:lnSpc>
              <a:spcBef>
                <a:spcPts val="1645"/>
              </a:spcBef>
              <a:buSzPct val="75000"/>
              <a:buFont typeface=""/>
              <a:buAutoNum type="arabicPeriod"/>
              <a:tabLst>
                <a:tab pos="520700" algn="l"/>
              </a:tabLst>
            </a:pPr>
            <a:r>
              <a:rPr sz="1600" b="1" spc="-5" dirty="0">
                <a:latin typeface="맑은 고딕"/>
                <a:cs typeface="맑은 고딕"/>
              </a:rPr>
              <a:t>요청</a:t>
            </a:r>
            <a:r>
              <a:rPr sz="1600" b="1" spc="215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사항</a:t>
            </a:r>
            <a:r>
              <a:rPr sz="1600" b="1" spc="22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및</a:t>
            </a:r>
            <a:r>
              <a:rPr sz="1600" b="1" spc="215" dirty="0">
                <a:latin typeface="맑은 고딕"/>
                <a:cs typeface="맑은 고딕"/>
              </a:rPr>
              <a:t> </a:t>
            </a:r>
            <a:r>
              <a:rPr sz="1600" b="1" dirty="0">
                <a:latin typeface="맑은 고딕"/>
                <a:cs typeface="맑은 고딕"/>
              </a:rPr>
              <a:t>장애</a:t>
            </a:r>
            <a:r>
              <a:rPr sz="1600" b="1" spc="22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처리</a:t>
            </a:r>
            <a:endParaRPr sz="1600">
              <a:latin typeface="맑은 고딕"/>
              <a:cs typeface="맑은 고딕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144601"/>
              </p:ext>
            </p:extLst>
          </p:nvPr>
        </p:nvGraphicFramePr>
        <p:xfrm>
          <a:off x="987856" y="1798573"/>
          <a:ext cx="5669278" cy="4069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8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8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421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spc="-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No.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E73BD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요청일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E73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요청</a:t>
                      </a:r>
                      <a:r>
                        <a:rPr sz="900" spc="6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900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사항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E73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작업</a:t>
                      </a:r>
                      <a:r>
                        <a:rPr sz="900" spc="65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900" dirty="0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내역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E73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6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0043EE3F-C40F-2CDB-B35A-A5A49F8868D6}"/>
              </a:ext>
            </a:extLst>
          </p:cNvPr>
          <p:cNvSpPr txBox="1"/>
          <p:nvPr/>
        </p:nvSpPr>
        <p:spPr>
          <a:xfrm>
            <a:off x="1397635" y="1841719"/>
            <a:ext cx="299021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  <a:tabLst>
                <a:tab pos="366395" algn="l"/>
              </a:tabLst>
            </a:pPr>
            <a:r>
              <a:rPr sz="1200" dirty="0">
                <a:latin typeface="맑은 고딕"/>
                <a:cs typeface="맑은 고딕"/>
              </a:rPr>
              <a:t>-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lang="en-US" sz="1200" spc="-5" dirty="0">
                <a:latin typeface="맑은 고딕"/>
                <a:cs typeface="맑은 고딕"/>
              </a:rPr>
              <a:t>{{DATE_RANGE}}</a:t>
            </a:r>
            <a:endParaRPr sz="1200" dirty="0">
              <a:latin typeface="맑은 고딕"/>
              <a:cs typeface="맑은 고딕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88288" y="1040637"/>
            <a:ext cx="2990215" cy="709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5760" indent="-353695">
              <a:lnSpc>
                <a:spcPct val="100000"/>
              </a:lnSpc>
              <a:spcBef>
                <a:spcPts val="95"/>
              </a:spcBef>
              <a:buAutoNum type="romanUcPeriod" startAt="4"/>
              <a:tabLst>
                <a:tab pos="366395" algn="l"/>
              </a:tabLst>
            </a:pPr>
            <a:r>
              <a:rPr sz="1600" b="1" spc="-5" dirty="0">
                <a:solidFill>
                  <a:srgbClr val="1E73BD"/>
                </a:solidFill>
                <a:latin typeface="맑은 고딕"/>
                <a:cs typeface="맑은 고딕"/>
              </a:rPr>
              <a:t>총평</a:t>
            </a:r>
            <a:endParaRPr sz="1600" dirty="0">
              <a:latin typeface="맑은 고딕"/>
              <a:cs typeface="맑은 고딕"/>
            </a:endParaRPr>
          </a:p>
          <a:p>
            <a:pPr marL="520065" lvl="1" indent="-229235">
              <a:lnSpc>
                <a:spcPct val="100000"/>
              </a:lnSpc>
              <a:spcBef>
                <a:spcPts val="1645"/>
              </a:spcBef>
              <a:buFont typeface=""/>
              <a:buAutoNum type="arabicPeriod"/>
              <a:tabLst>
                <a:tab pos="520700" algn="l"/>
              </a:tabLst>
            </a:pPr>
            <a:r>
              <a:rPr sz="1600" b="1" spc="-5" dirty="0" err="1">
                <a:latin typeface="맑은 고딕"/>
                <a:cs typeface="맑은 고딕"/>
              </a:rPr>
              <a:t>운영</a:t>
            </a:r>
            <a:r>
              <a:rPr sz="1600" b="1" spc="180" dirty="0">
                <a:latin typeface="맑은 고딕"/>
                <a:cs typeface="맑은 고딕"/>
              </a:rPr>
              <a:t> </a:t>
            </a:r>
            <a:r>
              <a:rPr sz="1600" b="1" spc="-5" dirty="0" err="1">
                <a:latin typeface="맑은 고딕"/>
                <a:cs typeface="맑은 고딕"/>
              </a:rPr>
              <a:t>기간</a:t>
            </a:r>
            <a:endParaRPr sz="1600" dirty="0">
              <a:latin typeface="맑은 고딕"/>
              <a:cs typeface="맑은 고딕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D513C2B-93A5-8FE4-75BA-512F81D82097}"/>
              </a:ext>
            </a:extLst>
          </p:cNvPr>
          <p:cNvSpPr txBox="1"/>
          <p:nvPr/>
        </p:nvSpPr>
        <p:spPr>
          <a:xfrm>
            <a:off x="1167180" y="2537720"/>
            <a:ext cx="5459730" cy="629916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75"/>
              </a:spcBef>
              <a:buFont typeface=""/>
              <a:buAutoNum type="arabicPeriod" startAt="2"/>
              <a:tabLst>
                <a:tab pos="241300" algn="l"/>
              </a:tabLst>
            </a:pPr>
            <a:r>
              <a:rPr sz="1600" b="1" spc="-5" dirty="0">
                <a:latin typeface="맑은 고딕"/>
                <a:cs typeface="맑은 고딕"/>
              </a:rPr>
              <a:t>권고</a:t>
            </a:r>
            <a:r>
              <a:rPr sz="1600" b="1" spc="21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및</a:t>
            </a:r>
            <a:r>
              <a:rPr sz="1600" b="1" spc="215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기타</a:t>
            </a:r>
            <a:r>
              <a:rPr sz="1600" b="1" spc="215" dirty="0">
                <a:latin typeface="맑은 고딕"/>
                <a:cs typeface="맑은 고딕"/>
              </a:rPr>
              <a:t> </a:t>
            </a:r>
            <a:r>
              <a:rPr sz="1600" b="1" spc="5" dirty="0">
                <a:latin typeface="맑은 고딕"/>
                <a:cs typeface="맑은 고딕"/>
              </a:rPr>
              <a:t>사항</a:t>
            </a:r>
            <a:endParaRPr sz="1600" dirty="0">
              <a:latin typeface="맑은 고딕"/>
              <a:cs typeface="맑은 고딕"/>
            </a:endParaRPr>
          </a:p>
          <a:p>
            <a:pPr marL="240665" marR="47625" lvl="1">
              <a:lnSpc>
                <a:spcPct val="144300"/>
              </a:lnSpc>
              <a:spcBef>
                <a:spcPts val="100"/>
              </a:spcBef>
              <a:buChar char="-"/>
              <a:tabLst>
                <a:tab pos="357505" algn="l"/>
              </a:tabLst>
            </a:pPr>
            <a:endParaRPr sz="1200" dirty="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1085</Words>
  <Application>Microsoft Office PowerPoint</Application>
  <PresentationFormat>사용자 지정</PresentationFormat>
  <Paragraphs>261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2" baseType="lpstr">
      <vt:lpstr>맑은 고딕</vt:lpstr>
      <vt:lpstr>Calibri</vt:lpstr>
      <vt:lpstr>Cambria</vt:lpstr>
      <vt:lpstr>Times New Roman</vt:lpstr>
      <vt:lpstr>Office Theme</vt:lpstr>
      <vt:lpstr>PowerPoint 프레젠테이션</vt:lpstr>
      <vt:lpstr>목 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Byeongsu Ju [주병수]</dc:creator>
  <cp:lastModifiedBy>Byeongsu Ju [주병수]</cp:lastModifiedBy>
  <cp:revision>42</cp:revision>
  <dcterms:created xsi:type="dcterms:W3CDTF">2025-08-29T05:43:36Z</dcterms:created>
  <dcterms:modified xsi:type="dcterms:W3CDTF">2025-11-07T08:10:55Z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2025-08-29T00:00:00Z</vt:filetime>
  </property>
  <property fmtid="{D5CDD505-2E9C-101B-9397-08002B2CF9AE}" pid="3" name="Creator">
    <vt:lpwstr>Microsoft® Word Microsoft 365용</vt:lpwstr>
  </property>
  <property fmtid="{D5CDD505-2E9C-101B-9397-08002B2CF9AE}" pid="4" name="LastSaved">
    <vt:filetime>2025-08-29T00:00:00Z</vt:filetime>
  </property>
</Properties>
</file>